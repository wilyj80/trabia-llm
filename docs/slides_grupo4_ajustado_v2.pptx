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7857b7e8f419d" /><Relationship Type="http://schemas.openxmlformats.org/officeDocument/2006/relationships/extended-properties" Target="/docProps/app.xml" Id="R7acdfa46a75a4394" /><Relationship Type="http://schemas.openxmlformats.org/officeDocument/2006/relationships/officeDocument" Target="/ppt/presentation.xml" Id="Rbcc6576e315841d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43e2bc6fccc4fd9"/>
    <p:sldMasterId xmlns:r="http://schemas.openxmlformats.org/officeDocument/2006/relationships" id="2147483660" r:id="R81dc43558a9b43ce"/>
  </p:sldMasterIdLst>
  <p:notesMasterIdLst>
    <p:notesMasterId xmlns:r="http://schemas.openxmlformats.org/officeDocument/2006/relationships" r:id="Rc31c34945c5c4181"/>
  </p:notesMasterIdLst>
  <p:sldIdLst>
    <p:sldId xmlns:r="http://schemas.openxmlformats.org/officeDocument/2006/relationships" id="256" r:id="Rc42e53f483c14e20"/>
    <p:sldId xmlns:r="http://schemas.openxmlformats.org/officeDocument/2006/relationships" id="257" r:id="Redc14257280646ea"/>
    <p:sldId xmlns:r="http://schemas.openxmlformats.org/officeDocument/2006/relationships" id="258" r:id="Rc0bd2cc1cc2a4c65"/>
    <p:sldId xmlns:r="http://schemas.openxmlformats.org/officeDocument/2006/relationships" id="259" r:id="R3b60b9878a0640c5"/>
    <p:sldId xmlns:r="http://schemas.openxmlformats.org/officeDocument/2006/relationships" id="260" r:id="R85d916bb46cc4707"/>
    <p:sldId xmlns:r="http://schemas.openxmlformats.org/officeDocument/2006/relationships" id="261" r:id="R93f55ab1537d46c2"/>
    <p:sldId xmlns:r="http://schemas.openxmlformats.org/officeDocument/2006/relationships" id="262" r:id="Rcf3ee0601e964e0a"/>
    <p:sldId xmlns:r="http://schemas.openxmlformats.org/officeDocument/2006/relationships" id="263" r:id="Rfc501581e4e94033"/>
    <p:sldId xmlns:r="http://schemas.openxmlformats.org/officeDocument/2006/relationships" id="264" r:id="R71b5e5ffb0a543f2"/>
    <p:sldId xmlns:r="http://schemas.openxmlformats.org/officeDocument/2006/relationships" id="265" r:id="R0e22c52a97dd4482"/>
    <p:sldId xmlns:r="http://schemas.openxmlformats.org/officeDocument/2006/relationships" id="266" r:id="R60870b0f3318418e"/>
    <p:sldId xmlns:r="http://schemas.openxmlformats.org/officeDocument/2006/relationships" id="267" r:id="Re583ed7e56114c56"/>
    <p:sldId xmlns:r="http://schemas.openxmlformats.org/officeDocument/2006/relationships" id="268" r:id="Rfe935cc02e854c46"/>
    <p:sldId xmlns:r="http://schemas.openxmlformats.org/officeDocument/2006/relationships" id="269" r:id="R636e0abb624e4fdd"/>
    <p:sldId xmlns:r="http://schemas.openxmlformats.org/officeDocument/2006/relationships" id="270" r:id="R982fb9904580439f"/>
  </p:sldIdLst>
  <p:sldSz cx="9144000" cy="5143500"/>
  <p:notesSz cx="6858000" cy="9144000"/>
  <p:embeddedFontLst>
    <p:embeddedFont>
      <p:font typeface="Inter"/>
      <p:regular xmlns:r="http://schemas.openxmlformats.org/officeDocument/2006/relationships" r:id="R6ad7146e76384a54"/>
      <p:bold xmlns:r="http://schemas.openxmlformats.org/officeDocument/2006/relationships" r:id="R7dcc2f30181a47ec"/>
      <p:italic xmlns:r="http://schemas.openxmlformats.org/officeDocument/2006/relationships" r:id="R32c2c40b0e4444a3"/>
      <p:boldItalic xmlns:r="http://schemas.openxmlformats.org/officeDocument/2006/relationships" r:id="R0b5428e6e9494069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e6584fc3774f65" /><Relationship Type="http://schemas.openxmlformats.org/officeDocument/2006/relationships/slideMaster" Target="/ppt/slideMasters/slideMaster1.xml" Id="R343e2bc6fccc4fd9" /><Relationship Type="http://schemas.openxmlformats.org/officeDocument/2006/relationships/slideMaster" Target="/ppt/slideMasters/slideMaster2.xml" Id="R81dc43558a9b43ce" /><Relationship Type="http://schemas.openxmlformats.org/officeDocument/2006/relationships/notesMaster" Target="/ppt/notesMasters/notesMaster1.xml" Id="Rc31c34945c5c4181" /><Relationship Type="http://schemas.openxmlformats.org/officeDocument/2006/relationships/presProps" Target="/ppt/presProps.xml" Id="Rea935a6333e64ca6" /><Relationship Type="http://schemas.openxmlformats.org/officeDocument/2006/relationships/viewProps" Target="/ppt/viewProps.xml" Id="Rb0742bcc55424663" /><Relationship Type="http://schemas.openxmlformats.org/officeDocument/2006/relationships/tableStyles" Target="/ppt/tableStyles.xml" Id="Rf5cd0b3bb6f44444" /><Relationship Type="http://schemas.openxmlformats.org/officeDocument/2006/relationships/font" Target="/ppt/fonts/font.dat" Id="R6ad7146e76384a54" /><Relationship Type="http://schemas.openxmlformats.org/officeDocument/2006/relationships/font" Target="/ppt/fonts/font2.dat" Id="R7dcc2f30181a47ec" /><Relationship Type="http://schemas.openxmlformats.org/officeDocument/2006/relationships/font" Target="/ppt/fonts/font3.dat" Id="R32c2c40b0e4444a3" /><Relationship Type="http://schemas.openxmlformats.org/officeDocument/2006/relationships/font" Target="/ppt/fonts/font4.dat" Id="R0b5428e6e9494069" /><Relationship Type="http://schemas.openxmlformats.org/officeDocument/2006/relationships/slide" Target="/ppt/slides/slide1.xml" Id="Rc42e53f483c14e20" /><Relationship Type="http://schemas.openxmlformats.org/officeDocument/2006/relationships/slide" Target="/ppt/slides/slide2.xml" Id="Redc14257280646ea" /><Relationship Type="http://schemas.openxmlformats.org/officeDocument/2006/relationships/slide" Target="/ppt/slides/slide3.xml" Id="Rc0bd2cc1cc2a4c65" /><Relationship Type="http://schemas.openxmlformats.org/officeDocument/2006/relationships/slide" Target="/ppt/slides/slide4.xml" Id="R3b60b9878a0640c5" /><Relationship Type="http://schemas.openxmlformats.org/officeDocument/2006/relationships/slide" Target="/ppt/slides/slide5.xml" Id="R85d916bb46cc4707" /><Relationship Type="http://schemas.openxmlformats.org/officeDocument/2006/relationships/slide" Target="/ppt/slides/slide6.xml" Id="R93f55ab1537d46c2" /><Relationship Type="http://schemas.openxmlformats.org/officeDocument/2006/relationships/slide" Target="/ppt/slides/slide7.xml" Id="Rcf3ee0601e964e0a" /><Relationship Type="http://schemas.openxmlformats.org/officeDocument/2006/relationships/slide" Target="/ppt/slides/slide8.xml" Id="Rfc501581e4e94033" /><Relationship Type="http://schemas.openxmlformats.org/officeDocument/2006/relationships/slide" Target="/ppt/slides/slide9.xml" Id="R71b5e5ffb0a543f2" /><Relationship Type="http://schemas.openxmlformats.org/officeDocument/2006/relationships/slide" Target="/ppt/slides/slide10.xml" Id="R0e22c52a97dd4482" /><Relationship Type="http://schemas.openxmlformats.org/officeDocument/2006/relationships/slide" Target="/ppt/slides/slide11.xml" Id="R60870b0f3318418e" /><Relationship Type="http://schemas.openxmlformats.org/officeDocument/2006/relationships/slide" Target="/ppt/slides/slide12.xml" Id="Re583ed7e56114c56" /><Relationship Type="http://schemas.openxmlformats.org/officeDocument/2006/relationships/slide" Target="/ppt/slides/slide13.xml" Id="Rfe935cc02e854c46" /><Relationship Type="http://schemas.openxmlformats.org/officeDocument/2006/relationships/slide" Target="/ppt/slides/slide14.xml" Id="R636e0abb624e4fdd" /><Relationship Type="http://schemas.openxmlformats.org/officeDocument/2006/relationships/slide" Target="/ppt/slides/slide15.xml" Id="R982fb990458043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3c5350090a9487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fd44d49311401f" /><Relationship Type="http://schemas.openxmlformats.org/officeDocument/2006/relationships/notesMaster" Target="/ppt/notesMasters/notesMaster1.xml" Id="Rb30107b2366e4d2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7c1b4e4eef47be" /><Relationship Type="http://schemas.openxmlformats.org/officeDocument/2006/relationships/notesMaster" Target="/ppt/notesMasters/notesMaster1.xml" Id="Re327370157c843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2728d74e2644e1" /><Relationship Type="http://schemas.openxmlformats.org/officeDocument/2006/relationships/notesMaster" Target="/ppt/notesMasters/notesMaster1.xml" Id="R313d73f42fdd41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1bd3a86da44834" /><Relationship Type="http://schemas.openxmlformats.org/officeDocument/2006/relationships/notesMaster" Target="/ppt/notesMasters/notesMaster1.xml" Id="R15ad6ea176714d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ce63dff67944bb" /><Relationship Type="http://schemas.openxmlformats.org/officeDocument/2006/relationships/notesMaster" Target="/ppt/notesMasters/notesMaster1.xml" Id="Ra94f3414159f45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b87962ddcc463c" /><Relationship Type="http://schemas.openxmlformats.org/officeDocument/2006/relationships/notesMaster" Target="/ppt/notesMasters/notesMaster1.xml" Id="R3e5f639fe02445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3c5babb16640bd" /><Relationship Type="http://schemas.openxmlformats.org/officeDocument/2006/relationships/notesMaster" Target="/ppt/notesMasters/notesMaster1.xml" Id="R05010b55203c48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39af2ac2594bef" /><Relationship Type="http://schemas.openxmlformats.org/officeDocument/2006/relationships/notesMaster" Target="/ppt/notesMasters/notesMaster1.xml" Id="R357579082f2f4e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d4f6e93794411e" /><Relationship Type="http://schemas.openxmlformats.org/officeDocument/2006/relationships/notesMaster" Target="/ppt/notesMasters/notesMaster1.xml" Id="Rad006f3d2ff747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ca26f08fc194879" /><Relationship Type="http://schemas.openxmlformats.org/officeDocument/2006/relationships/notesMaster" Target="/ppt/notesMasters/notesMaster1.xml" Id="Rf083ca2995544f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dd9a4b289042cb" /><Relationship Type="http://schemas.openxmlformats.org/officeDocument/2006/relationships/notesMaster" Target="/ppt/notesMasters/notesMaster1.xml" Id="R8dd9cfe50a194e2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0fd3cc9e35d482f" /><Relationship Type="http://schemas.openxmlformats.org/officeDocument/2006/relationships/notesMaster" Target="/ppt/notesMasters/notesMaster1.xml" Id="R1b11dcb7c59840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0307d40c3b4724" /><Relationship Type="http://schemas.openxmlformats.org/officeDocument/2006/relationships/notesMaster" Target="/ppt/notesMasters/notesMaster1.xml" Id="Rc2af72fd930e477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ec05addd0242cc" /><Relationship Type="http://schemas.openxmlformats.org/officeDocument/2006/relationships/notesMaster" Target="/ppt/notesMasters/notesMaster1.xml" Id="R8460b685f03540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321029faa24407" /><Relationship Type="http://schemas.openxmlformats.org/officeDocument/2006/relationships/notesMaster" Target="/ppt/notesMasters/notesMaster1.xml" Id="Rad82fc06af6c47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65425d66943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5f7ea0df9643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fc737484f3460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9414ba2b8f4fc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dc3021dbe4c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6e17e6bc3d49e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0d999dd82545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bfda5298be4348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f98e08fca541b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7c9be592fe4f1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1d1266f3d493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bd1ceea82248b5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84D8F808-51A8-4EB4-8A37-1AA26D539E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9E3F3843-F57D-4674-AA31-45C75FFDC5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5A3D2D1F-596E-4F5D-B545-44475231B5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70B7267-8193-4587-8438-D922B11553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1FE155AC-76C0-441E-A730-CD3DCE67B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20575965-24E7-4E1A-8BD6-AEF511CA46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541B6DC9-6418-4397-AD45-01E4F7E96D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4CE8E54E-DF42-4911-95FA-7332D95208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D82E7DCB-3020-4176-B1C0-D13C45E49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13178FAD-4E4B-4E99-82D8-E570EBF330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7AB70B33-0085-4BC7-9ED4-80F3AC23E6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773C397B-DC87-49BE-AA11-33872D27496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0821362E-CC0D-47D6-A663-D53E487DEC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F9BB83A6-2948-4D40-8620-AB33FDF43D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3AF6B1DB-8743-4D49-91B1-5B10DCCC7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B6596EAF-9F61-47A8-BE54-8D08E65E6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/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B348EB5F-6E46-4AC2-86C2-C730A79D15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757B3831-CD91-42B7-ACF3-89D929F166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/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5A3890BB-5541-4A5B-B064-F0CC240EB8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CE169C59-5D4D-4CF1-AB6D-752882CFC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02E9A70B-3A68-4190-9EBC-05902AF02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/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2F4F511E-93B4-4742-844B-7873353B54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/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C10478EB-7349-42DE-BD57-D7F90840AE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63219092-FCE4-485E-9EF0-89327AEA4E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7B120023-CC85-44E0-A906-12930930A8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/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5595D387-AEBC-437F-8746-B634763FEA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76EB6CDF-7DF6-429E-AEBB-7E5F2A20C6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4C821DCC-883A-4602-B83F-DCC7A81244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88D55FE4-857D-4D4B-996A-EEE564D47C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7B63D2D5-B1C4-4043-A155-F28936F20F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1d132fa6fb4c04" /><Relationship Type="http://schemas.openxmlformats.org/officeDocument/2006/relationships/slideLayout" Target="/ppt/slideLayouts/slideLayout1.xml" Id="R2ec79465aada415c" /><Relationship Type="http://schemas.openxmlformats.org/officeDocument/2006/relationships/slideLayout" Target="/ppt/slideLayouts/slideLayout2.xml" Id="Ra9b84b4f2fc6405d" /><Relationship Type="http://schemas.openxmlformats.org/officeDocument/2006/relationships/slideLayout" Target="/ppt/slideLayouts/slideLayout3.xml" Id="Rc0212c0640ee45d4" /><Relationship Type="http://schemas.openxmlformats.org/officeDocument/2006/relationships/slideLayout" Target="/ppt/slideLayouts/slideLayout4.xml" Id="Ra40576238abc4cfd" /><Relationship Type="http://schemas.openxmlformats.org/officeDocument/2006/relationships/slideLayout" Target="/ppt/slideLayouts/slideLayout5.xml" Id="Rded362fec6554e08" /><Relationship Type="http://schemas.openxmlformats.org/officeDocument/2006/relationships/slideLayout" Target="/ppt/slideLayouts/slideLayout6.xml" Id="Racdeab51dec945ae" /><Relationship Type="http://schemas.openxmlformats.org/officeDocument/2006/relationships/slideLayout" Target="/ppt/slideLayouts/slideLayout7.xml" Id="Rf7eed837779d44ca" /><Relationship Type="http://schemas.openxmlformats.org/officeDocument/2006/relationships/slideLayout" Target="/ppt/slideLayouts/slideLayout8.xml" Id="Rfd9a3a855df24d65" /><Relationship Type="http://schemas.openxmlformats.org/officeDocument/2006/relationships/slideLayout" Target="/ppt/slideLayouts/slideLayout9.xml" Id="Rbe6525d41d1b4d12" /><Relationship Type="http://schemas.openxmlformats.org/officeDocument/2006/relationships/slideLayout" Target="/ppt/slideLayouts/slideLayout10.xml" Id="Rcbb63033f75a49b5" /><Relationship Type="http://schemas.openxmlformats.org/officeDocument/2006/relationships/slideLayout" Target="/ppt/slideLayouts/slideLayout11.xml" Id="R6cb0f28762e945f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cfca229925649e4" /><Relationship Type="http://schemas.openxmlformats.org/officeDocument/2006/relationships/slideLayout" Target="/ppt/slideLayouts/slideLayout12.xml" Id="R7ab3d312b40b4c24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E35B36F6-568B-45FB-82E2-BCB8341B3B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F6109799-5BCD-4B0A-95EB-63FAADA860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DF7034F7-744B-44CE-828A-97D6D1544C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c79465aada415c"/>
    <p:sldLayoutId xmlns:r="http://schemas.openxmlformats.org/officeDocument/2006/relationships" id="2147483650" r:id="Ra9b84b4f2fc6405d"/>
    <p:sldLayoutId xmlns:r="http://schemas.openxmlformats.org/officeDocument/2006/relationships" id="2147483651" r:id="Rc0212c0640ee45d4"/>
    <p:sldLayoutId xmlns:r="http://schemas.openxmlformats.org/officeDocument/2006/relationships" id="2147483652" r:id="Ra40576238abc4cfd"/>
    <p:sldLayoutId xmlns:r="http://schemas.openxmlformats.org/officeDocument/2006/relationships" id="2147483653" r:id="Rded362fec6554e08"/>
    <p:sldLayoutId xmlns:r="http://schemas.openxmlformats.org/officeDocument/2006/relationships" id="2147483654" r:id="Racdeab51dec945ae"/>
    <p:sldLayoutId xmlns:r="http://schemas.openxmlformats.org/officeDocument/2006/relationships" id="2147483655" r:id="Rf7eed837779d44ca"/>
    <p:sldLayoutId xmlns:r="http://schemas.openxmlformats.org/officeDocument/2006/relationships" id="2147483656" r:id="Rfd9a3a855df24d65"/>
    <p:sldLayoutId xmlns:r="http://schemas.openxmlformats.org/officeDocument/2006/relationships" id="2147483657" r:id="Rbe6525d41d1b4d12"/>
    <p:sldLayoutId xmlns:r="http://schemas.openxmlformats.org/officeDocument/2006/relationships" id="2147483658" r:id="Rcbb63033f75a49b5"/>
    <p:sldLayoutId xmlns:r="http://schemas.openxmlformats.org/officeDocument/2006/relationships" id="2147483659" r:id="R6cb0f28762e945f5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7ab3d312b40b4c24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84b941eafb45f9" /><Relationship Type="http://schemas.openxmlformats.org/officeDocument/2006/relationships/notesSlide" Target="/ppt/notesSlides/notesSlide1.xml" Id="R9707eac009fe42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4b576983194c0a" /><Relationship Type="http://schemas.openxmlformats.org/officeDocument/2006/relationships/notesSlide" Target="/ppt/notesSlides/notesSlide2.xml" Id="R038d237de8ac4e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c4304d1be944734" /><Relationship Type="http://schemas.openxmlformats.org/officeDocument/2006/relationships/notesSlide" Target="/ppt/notesSlides/notesSlide3.xml" Id="Rfe1f1af36d1646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e922db6f9364a06" /><Relationship Type="http://schemas.openxmlformats.org/officeDocument/2006/relationships/notesSlide" Target="/ppt/notesSlides/notesSlide4.xml" Id="R521576403a1a42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1f8d4d52da54cdf" /><Relationship Type="http://schemas.openxmlformats.org/officeDocument/2006/relationships/notesSlide" Target="/ppt/notesSlides/notesSlide5.xml" Id="Red640d3a4ccc4c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85074e64e2b4a72" /><Relationship Type="http://schemas.openxmlformats.org/officeDocument/2006/relationships/notesSlide" Target="/ppt/notesSlides/notesSlide6.xml" Id="Rd1f6cc4716b741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2fc0c0fd6c145a9" /><Relationship Type="http://schemas.openxmlformats.org/officeDocument/2006/relationships/notesSlide" Target="/ppt/notesSlides/notesSlide7.xml" Id="R35cc43b224c04e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333d54680724381" /><Relationship Type="http://schemas.openxmlformats.org/officeDocument/2006/relationships/notesSlide" Target="/ppt/notesSlides/notesSlide8.xml" Id="Rb3df9579c79a42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6e290c3254144fc" /><Relationship Type="http://schemas.openxmlformats.org/officeDocument/2006/relationships/image" Target="/ppt/media/image.png" Id="R4f0819be67194971" /><Relationship Type="http://schemas.openxmlformats.org/officeDocument/2006/relationships/notesSlide" Target="/ppt/notesSlides/notesSlide9.xml" Id="Re9b59deec31f419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18efa335d71478f" /><Relationship Type="http://schemas.openxmlformats.org/officeDocument/2006/relationships/image" Target="/ppt/media/image2.png" Id="R8a926a3a4a5d404e" /><Relationship Type="http://schemas.openxmlformats.org/officeDocument/2006/relationships/notesSlide" Target="/ppt/notesSlides/notesSlide10.xml" Id="R273f76af25f64e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710413c83d842bb" /><Relationship Type="http://schemas.openxmlformats.org/officeDocument/2006/relationships/notesSlide" Target="/ppt/notesSlides/notesSlide11.xml" Id="R719e225ea2bb49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e31869cad064eea" /><Relationship Type="http://schemas.openxmlformats.org/officeDocument/2006/relationships/notesSlide" Target="/ppt/notesSlides/notesSlide12.xml" Id="R355a6191d7bb460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2082719a6a6458d" /><Relationship Type="http://schemas.openxmlformats.org/officeDocument/2006/relationships/notesSlide" Target="/ppt/notesSlides/notesSlide13.xml" Id="Ra7fe47fa776442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4dcda2222204223" /><Relationship Type="http://schemas.openxmlformats.org/officeDocument/2006/relationships/notesSlide" Target="/ppt/notesSlides/notesSlide14.xml" Id="R49ba84d5562f43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608b9ef47f6410b" /><Relationship Type="http://schemas.openxmlformats.org/officeDocument/2006/relationships/notesSlide" Target="/ppt/notesSlides/notesSlide15.xml" Id="Rbd355db980e541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Google Shape;57;p15">
            <a:extLst xmlns:a="http://schemas.openxmlformats.org/drawingml/2006/main">
              <a:ext uri="{FF2B5EF4-FFF2-40B4-BE49-F238E27FC236}">
                <a16:creationId xmlns:a16="http://schemas.microsoft.com/office/drawing/2014/main" id="{5D373321-A87A-4B90-8232-A57C2C18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33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58" name="Google Shape;58;p15">
            <a:extLst xmlns:a="http://schemas.openxmlformats.org/drawingml/2006/main">
              <a:ext uri="{FF2B5EF4-FFF2-40B4-BE49-F238E27FC236}">
                <a16:creationId xmlns:a16="http://schemas.microsoft.com/office/drawing/2014/main" id="{53C6B514-1D14-47D5-9120-6B76215D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"/>
            <a:ext cx="2746006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TRABALHO 3 · INTELIGENCIA ARTIFICIAL</a:t>
            </a:r>
          </a:p>
        </p:txBody>
      </p:sp>
      <p:sp>
        <p:nvSpPr>
          <p:cNvPr id="59" name="Google Shape;59;p15">
            <a:extLst xmlns:a="http://schemas.openxmlformats.org/drawingml/2006/main">
              <a:ext uri="{FF2B5EF4-FFF2-40B4-BE49-F238E27FC236}">
                <a16:creationId xmlns:a16="http://schemas.microsoft.com/office/drawing/2014/main" id="{67A25B51-FC8D-4767-BB20-53C8B8A6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1288"/>
            <a:ext cx="7358063" cy="1006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93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Extrator Estruturado com LLM, RAG e Validação</a:t>
            </a:r>
          </a:p>
        </p:txBody>
      </p:sp>
      <p:sp>
        <p:nvSpPr>
          <p:cNvPr id="60" name="Google Shape;60;p15">
            <a:extLst xmlns:a="http://schemas.openxmlformats.org/drawingml/2006/main">
              <a:ext uri="{FF2B5EF4-FFF2-40B4-BE49-F238E27FC236}">
                <a16:creationId xmlns:a16="http://schemas.microsoft.com/office/drawing/2014/main" id="{494F1C56-C472-4C61-889B-43AA0735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70213"/>
            <a:ext cx="4208659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2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Projeto 2 — extrator genérico com LLM, RAG e validação em camadas, aplicável a qualquer PDF ou texto</a:t>
            </a:r>
          </a:p>
        </p:txBody>
      </p:sp>
      <p:sp>
        <p:nvSpPr>
          <p:cNvPr id="61" name="Google Shape;61;p15">
            <a:extLst xmlns:a="http://schemas.openxmlformats.org/drawingml/2006/main">
              <a:ext uri="{FF2B5EF4-FFF2-40B4-BE49-F238E27FC236}">
                <a16:creationId xmlns:a16="http://schemas.microsoft.com/office/drawing/2014/main" id="{687A68E9-F6BB-41D6-879E-5C279B9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9195"/>
            <a:ext cx="372966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Brunna Moura · Carlos Cruz · Rafael Queiroz · Victor Bitencourt</a:t>
            </a:r>
          </a:p>
        </p:txBody>
      </p:sp>
      <p:sp>
        <p:nvSpPr>
          <p:cNvPr id="62" name="Google Shape;62;p15">
            <a:extLst xmlns:a="http://schemas.openxmlformats.org/drawingml/2006/main">
              <a:ext uri="{FF2B5EF4-FFF2-40B4-BE49-F238E27FC236}">
                <a16:creationId xmlns:a16="http://schemas.microsoft.com/office/drawing/2014/main" id="{5177228A-2E47-44F2-9BEA-D3D9EE5F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5648" y="4509195"/>
            <a:ext cx="1756537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Equipe 4 · UNEB · Julho 2026</a:t>
            </a:r>
          </a:p>
        </p:txBody>
      </p:sp>
    </p:spTree>
    <p:extLst>
      <p:ext uri="{BB962C8B-B14F-4D97-AF65-F5344CB8AC3E}">
        <p14:creationId xmlns:p14="http://schemas.microsoft.com/office/powerpoint/2010/main" val="13901205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16">
            <a:extLst xmlns:a="http://schemas.openxmlformats.org/drawingml/2006/main">
              <a:ext uri="{FF2B5EF4-FFF2-40B4-BE49-F238E27FC236}">
                <a16:creationId xmlns:a16="http://schemas.microsoft.com/office/drawing/2014/main" id="{AB8330EA-755A-404D-AD3F-02311236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69" name="Google Shape;69;p16">
            <a:extLst xmlns:a="http://schemas.openxmlformats.org/drawingml/2006/main">
              <a:ext uri="{FF2B5EF4-FFF2-40B4-BE49-F238E27FC236}">
                <a16:creationId xmlns:a16="http://schemas.microsoft.com/office/drawing/2014/main" id="{B87875DF-E841-4682-BFF4-403429C1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02212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01 · PROBLEMA</a:t>
            </a:r>
          </a:p>
        </p:txBody>
      </p:sp>
      <p:sp>
        <p:nvSpPr>
          <p:cNvPr id="70" name="Google Shape;70;p16">
            <a:extLst xmlns:a="http://schemas.openxmlformats.org/drawingml/2006/main">
              <a:ext uri="{FF2B5EF4-FFF2-40B4-BE49-F238E27FC236}">
                <a16:creationId xmlns:a16="http://schemas.microsoft.com/office/drawing/2014/main" id="{3851976B-57F1-4290-9E3C-2AD93E84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72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Definição do Problema</a:t>
            </a:r>
          </a:p>
        </p:txBody>
      </p:sp>
      <p:sp>
        <p:nvSpPr>
          <p:cNvPr id="71" name="Google Shape;71;p16">
            <a:extLst xmlns:a="http://schemas.openxmlformats.org/drawingml/2006/main">
              <a:ext uri="{FF2B5EF4-FFF2-40B4-BE49-F238E27FC236}">
                <a16:creationId xmlns:a16="http://schemas.microsoft.com/office/drawing/2014/main" id="{6EB8416F-9E01-4494-98DF-4CDF330B8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584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2" name="Google Shape;72;p16">
            <a:extLst xmlns:a="http://schemas.openxmlformats.org/drawingml/2006/main">
              <a:ext uri="{FF2B5EF4-FFF2-40B4-BE49-F238E27FC236}">
                <a16:creationId xmlns:a16="http://schemas.microsoft.com/office/drawing/2014/main" id="{E750708E-B29E-4536-A3E1-62674A8B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4408"/>
            <a:ext cx="5706791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Uma aplicação </a:t>
            </a:r>
            <a:r>
              <a:rPr>
                <a:solidFill>
                  <a:srgbClr val="E4E7F5"/>
                </a:solidFill>
                <a:latin typeface="Inter"/>
                <a:ea typeface="Inter"/>
                <a:cs typeface="Inter"/>
              </a:rPr>
              <a:t>que</a:t>
            </a:r>
            <a:r>
              <a:rPr sz="14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 recebe qualquer PDF ou texto bruto — editais, notícias, relatórios, documentos administrativos — e devolve campos estruturados e validados, no lugar de texto livre.</a:t>
            </a:r>
          </a:p>
        </p:txBody>
      </p:sp>
      <p:sp>
        <p:nvSpPr>
          <p:cNvPr id="73" name="Google Shape;73;p16">
            <a:extLst xmlns:a="http://schemas.openxmlformats.org/drawingml/2006/main">
              <a:ext uri="{FF2B5EF4-FFF2-40B4-BE49-F238E27FC236}">
                <a16:creationId xmlns:a16="http://schemas.microsoft.com/office/drawing/2014/main" id="{512EB12E-050E-485A-A4C8-D7902E5C0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46921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4" name="Google Shape;74;p16">
            <a:extLst xmlns:a="http://schemas.openxmlformats.org/drawingml/2006/main">
              <a:ext uri="{FF2B5EF4-FFF2-40B4-BE49-F238E27FC236}">
                <a16:creationId xmlns:a16="http://schemas.microsoft.com/office/drawing/2014/main" id="{362DED15-E2EA-4DF1-BBA1-3B4DB92A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75483"/>
            <a:ext cx="5885377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RAG entra como apoio: ingestão, embeddings e recuperação ajudam a normalizar, classificar e checar a extração.</a:t>
            </a:r>
          </a:p>
        </p:txBody>
      </p:sp>
      <p:sp>
        <p:nvSpPr>
          <p:cNvPr id="75" name="Google Shape;75;p16">
            <a:extLst xmlns:a="http://schemas.openxmlformats.org/drawingml/2006/main">
              <a:ext uri="{FF2B5EF4-FFF2-40B4-BE49-F238E27FC236}">
                <a16:creationId xmlns:a16="http://schemas.microsoft.com/office/drawing/2014/main" id="{AA69FB9B-C672-436B-B2A2-BD32CEA5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70821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76" name="Google Shape;76;p16">
            <a:extLst xmlns:a="http://schemas.openxmlformats.org/drawingml/2006/main">
              <a:ext uri="{FF2B5EF4-FFF2-40B4-BE49-F238E27FC236}">
                <a16:creationId xmlns:a16="http://schemas.microsoft.com/office/drawing/2014/main" id="{BAC25309-98C3-4F3E-B6D4-6FEAEAD0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9383"/>
            <a:ext cx="6054842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A extração estruturada continua sendo a tarefa principal — o RAG nunca vira resposta livre sem validação.</a:t>
            </a:r>
          </a:p>
        </p:txBody>
      </p:sp>
    </p:spTree>
    <p:extLst>
      <p:ext uri="{BB962C8B-B14F-4D97-AF65-F5344CB8AC3E}">
        <p14:creationId xmlns:p14="http://schemas.microsoft.com/office/powerpoint/2010/main" val="10027793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17">
            <a:extLst xmlns:a="http://schemas.openxmlformats.org/drawingml/2006/main">
              <a:ext uri="{FF2B5EF4-FFF2-40B4-BE49-F238E27FC236}">
                <a16:creationId xmlns:a16="http://schemas.microsoft.com/office/drawing/2014/main" id="{114CD622-BD79-45AA-8197-1A4A87A0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3" name="Google Shape;83;p17">
            <a:extLst xmlns:a="http://schemas.openxmlformats.org/drawingml/2006/main">
              <a:ext uri="{FF2B5EF4-FFF2-40B4-BE49-F238E27FC236}">
                <a16:creationId xmlns:a16="http://schemas.microsoft.com/office/drawing/2014/main" id="{7FC3AA8F-3823-4F66-8F28-CD2D05BB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779182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02 · DADOS</a:t>
            </a:r>
          </a:p>
        </p:txBody>
      </p:sp>
      <p:sp>
        <p:nvSpPr>
          <p:cNvPr id="84" name="Google Shape;84;p17">
            <a:extLst xmlns:a="http://schemas.openxmlformats.org/drawingml/2006/main">
              <a:ext uri="{FF2B5EF4-FFF2-40B4-BE49-F238E27FC236}">
                <a16:creationId xmlns:a16="http://schemas.microsoft.com/office/drawing/2014/main" id="{B5B41CE9-581D-4316-99D3-39C72E0C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72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Base Documental</a:t>
            </a:r>
          </a:p>
        </p:txBody>
      </p:sp>
      <p:sp>
        <p:nvSpPr>
          <p:cNvPr id="85" name="Google Shape;85;p17">
            <a:extLst xmlns:a="http://schemas.openxmlformats.org/drawingml/2006/main">
              <a:ext uri="{FF2B5EF4-FFF2-40B4-BE49-F238E27FC236}">
                <a16:creationId xmlns:a16="http://schemas.microsoft.com/office/drawing/2014/main" id="{6CAA430A-AFDA-4CC9-8A48-43B247B1A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41995"/>
            <a:ext cx="6867525" cy="432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O projeto usa dois conjuntos com papéis distintos: a CPMI forma a base vetorial do RAG; 30 textos anotados formam o benchmark de extração.</a:t>
            </a:r>
          </a:p>
        </p:txBody>
      </p:sp>
      <p:sp>
        <p:nvSpPr>
          <p:cNvPr id="86" name="Google Shape;86;p17">
            <a:extLst xmlns:a="http://schemas.openxmlformats.org/drawingml/2006/main">
              <a:ext uri="{FF2B5EF4-FFF2-40B4-BE49-F238E27FC236}">
                <a16:creationId xmlns:a16="http://schemas.microsoft.com/office/drawing/2014/main" id="{73D83D5A-94C1-4618-94E3-13DDAD82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5639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7" name="Google Shape;87;p17">
            <a:extLst xmlns:a="http://schemas.openxmlformats.org/drawingml/2006/main">
              <a:ext uri="{FF2B5EF4-FFF2-40B4-BE49-F238E27FC236}">
                <a16:creationId xmlns:a16="http://schemas.microsoft.com/office/drawing/2014/main" id="{6B2BE6AC-821E-49C1-9FB3-09BD5074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99246"/>
            <a:ext cx="407560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Base vetorial do RAG: relatório da CPMI, com 1.333 páginas e 1.533 chunks no pgvector.</a:t>
            </a:r>
          </a:p>
        </p:txBody>
      </p:sp>
      <p:sp>
        <p:nvSpPr>
          <p:cNvPr id="88" name="Google Shape;88;p17">
            <a:extLst xmlns:a="http://schemas.openxmlformats.org/drawingml/2006/main">
              <a:ext uri="{FF2B5EF4-FFF2-40B4-BE49-F238E27FC236}">
                <a16:creationId xmlns:a16="http://schemas.microsoft.com/office/drawing/2014/main" id="{4231B5BB-E828-45F3-BCC8-77704C04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269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89" name="Google Shape;89;p17">
            <a:extLst xmlns:a="http://schemas.openxmlformats.org/drawingml/2006/main">
              <a:ext uri="{FF2B5EF4-FFF2-40B4-BE49-F238E27FC236}">
                <a16:creationId xmlns:a16="http://schemas.microsoft.com/office/drawing/2014/main" id="{4378083C-331F-4A9A-8472-93C12218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75546"/>
            <a:ext cx="3932501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Benchmark: 30 textos anotados enviados a /api/extract; eles não entram no pgvector.</a:t>
            </a:r>
          </a:p>
        </p:txBody>
      </p:sp>
      <p:sp>
        <p:nvSpPr>
          <p:cNvPr id="90" name="Google Shape;90;p17">
            <a:extLst xmlns:a="http://schemas.openxmlformats.org/drawingml/2006/main">
              <a:ext uri="{FF2B5EF4-FFF2-40B4-BE49-F238E27FC236}">
                <a16:creationId xmlns:a16="http://schemas.microsoft.com/office/drawing/2014/main" id="{25F07D9C-EE88-48C9-B611-5603E86FB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8039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1" name="Google Shape;91;p17">
            <a:extLst xmlns:a="http://schemas.openxmlformats.org/drawingml/2006/main">
              <a:ext uri="{FF2B5EF4-FFF2-40B4-BE49-F238E27FC236}">
                <a16:creationId xmlns:a16="http://schemas.microsoft.com/office/drawing/2014/main" id="{3102605A-A996-48F6-A5A6-C913F981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3246"/>
            <a:ext cx="3910581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A comparação mede o efeito de contexto da CPMI fora do domínio desses textos.</a:t>
            </a:r>
          </a:p>
        </p:txBody>
      </p:sp>
      <p:sp>
        <p:nvSpPr>
          <p:cNvPr id="92" name="Google Shape;92;p17">
            <a:extLst xmlns:a="http://schemas.openxmlformats.org/drawingml/2006/main">
              <a:ext uri="{FF2B5EF4-FFF2-40B4-BE49-F238E27FC236}">
                <a16:creationId xmlns:a16="http://schemas.microsoft.com/office/drawing/2014/main" id="{D1366BF1-E663-4649-A573-8EEC7FB0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936" y="2662610"/>
            <a:ext cx="3017564" cy="1444898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93" name="Google Shape;93;p17">
            <a:extLst xmlns:a="http://schemas.openxmlformats.org/drawingml/2006/main">
              <a:ext uri="{FF2B5EF4-FFF2-40B4-BE49-F238E27FC236}">
                <a16:creationId xmlns:a16="http://schemas.microsoft.com/office/drawing/2014/main" id="{A8061317-D43C-4434-A406-6418C62B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36" y="2929310"/>
            <a:ext cx="1710534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8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1.333</a:t>
            </a:r>
          </a:p>
        </p:txBody>
      </p:sp>
      <p:sp>
        <p:nvSpPr>
          <p:cNvPr id="94" name="Google Shape;94;p17">
            <a:extLst xmlns:a="http://schemas.openxmlformats.org/drawingml/2006/main">
              <a:ext uri="{FF2B5EF4-FFF2-40B4-BE49-F238E27FC236}">
                <a16:creationId xmlns:a16="http://schemas.microsoft.com/office/drawing/2014/main" id="{AFE7E583-00D0-4226-8D49-6AE36D70D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536" y="3634160"/>
            <a:ext cx="1851735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páginas · 1.533 chunks na base RAG</a:t>
            </a:r>
          </a:p>
        </p:txBody>
      </p:sp>
    </p:spTree>
    <p:extLst>
      <p:ext uri="{BB962C8B-B14F-4D97-AF65-F5344CB8AC3E}">
        <p14:creationId xmlns:p14="http://schemas.microsoft.com/office/powerpoint/2010/main" val="5228415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18">
            <a:extLst xmlns:a="http://schemas.openxmlformats.org/drawingml/2006/main">
              <a:ext uri="{FF2B5EF4-FFF2-40B4-BE49-F238E27FC236}">
                <a16:creationId xmlns:a16="http://schemas.microsoft.com/office/drawing/2014/main" id="{89B0C08F-CC30-429C-891A-ED8DEE8C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1" name="Google Shape;101;p18">
            <a:extLst xmlns:a="http://schemas.openxmlformats.org/drawingml/2006/main">
              <a:ext uri="{FF2B5EF4-FFF2-40B4-BE49-F238E27FC236}">
                <a16:creationId xmlns:a16="http://schemas.microsoft.com/office/drawing/2014/main" id="{E9D33A60-5E95-4C68-B646-D542A550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27489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03 · ARQUITETURA</a:t>
            </a:r>
          </a:p>
        </p:txBody>
      </p:sp>
      <p:sp>
        <p:nvSpPr>
          <p:cNvPr id="102" name="Google Shape;102;p18">
            <a:extLst xmlns:a="http://schemas.openxmlformats.org/drawingml/2006/main">
              <a:ext uri="{FF2B5EF4-FFF2-40B4-BE49-F238E27FC236}">
                <a16:creationId xmlns:a16="http://schemas.microsoft.com/office/drawing/2014/main" id="{E9D920E4-A5DF-4DFC-A095-756DA267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Arquitetura da Solução</a:t>
            </a:r>
          </a:p>
        </p:txBody>
      </p:sp>
      <p:sp>
        <p:nvSpPr>
          <p:cNvPr id="103" name="Google Shape;103;p18">
            <a:extLst xmlns:a="http://schemas.openxmlformats.org/drawingml/2006/main">
              <a:ext uri="{FF2B5EF4-FFF2-40B4-BE49-F238E27FC236}">
                <a16:creationId xmlns:a16="http://schemas.microsoft.com/office/drawing/2014/main" id="{98DDC5CF-A4D2-4FF8-84D4-B823BC80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Hexagonal — portas e adaptadores (Python 3.12 + FastAPI)</a:t>
            </a:r>
          </a:p>
        </p:txBody>
      </p:sp>
      <p:sp>
        <p:nvSpPr>
          <p:cNvPr id="104" name="Google Shape;104;p18">
            <a:extLst xmlns:a="http://schemas.openxmlformats.org/drawingml/2006/main">
              <a:ext uri="{FF2B5EF4-FFF2-40B4-BE49-F238E27FC236}">
                <a16:creationId xmlns:a16="http://schemas.microsoft.com/office/drawing/2014/main" id="{50ECFCE2-582A-4C12-A990-E55E4F7B8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630" y="1815852"/>
            <a:ext cx="1880741" cy="450056"/>
          </a:xfrm>
          <a:prstGeom xmlns:a="http://schemas.openxmlformats.org/drawingml/2006/main" prst="roundRect">
            <a:avLst>
              <a:gd name="adj" fmla="val 8466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5" name="Google Shape;105;p18">
            <a:extLst xmlns:a="http://schemas.openxmlformats.org/drawingml/2006/main">
              <a:ext uri="{FF2B5EF4-FFF2-40B4-BE49-F238E27FC236}">
                <a16:creationId xmlns:a16="http://schemas.microsoft.com/office/drawing/2014/main" id="{8FCEB4F4-FFDA-4BD6-BAAE-1449EDCE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330" y="1930152"/>
            <a:ext cx="1403763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highlight>
                  <a:srgbClr val="232532"/>
                </a:highlight>
                <a:latin typeface="Inter"/>
                <a:ea typeface="Inter"/>
                <a:cs typeface="Inter"/>
              </a:rPr>
              <a:t>FastAPI App · </a:t>
            </a: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src/api</a:t>
            </a:r>
          </a:p>
        </p:txBody>
      </p:sp>
      <p:sp>
        <p:nvSpPr>
          <p:cNvPr id="106" name="Google Shape;106;p18">
            <a:extLst xmlns:a="http://schemas.openxmlformats.org/drawingml/2006/main">
              <a:ext uri="{FF2B5EF4-FFF2-40B4-BE49-F238E27FC236}">
                <a16:creationId xmlns:a16="http://schemas.microsoft.com/office/drawing/2014/main" id="{C848F76C-B824-4502-8BCD-8E545144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619" y="2265908"/>
            <a:ext cx="47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7" name="Google Shape;107;p18">
            <a:extLst xmlns:a="http://schemas.openxmlformats.org/drawingml/2006/main">
              <a:ext uri="{FF2B5EF4-FFF2-40B4-BE49-F238E27FC236}">
                <a16:creationId xmlns:a16="http://schemas.microsoft.com/office/drawing/2014/main" id="{AB92B095-7E27-4F86-93BF-A71FEFCB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3382" y="2456408"/>
            <a:ext cx="2897237" cy="450056"/>
          </a:xfrm>
          <a:prstGeom xmlns:a="http://schemas.openxmlformats.org/drawingml/2006/main" prst="roundRect">
            <a:avLst>
              <a:gd name="adj" fmla="val 8466"/>
            </a:avLst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08" name="Google Shape;108;p18">
            <a:extLst xmlns:a="http://schemas.openxmlformats.org/drawingml/2006/main">
              <a:ext uri="{FF2B5EF4-FFF2-40B4-BE49-F238E27FC236}">
                <a16:creationId xmlns:a16="http://schemas.microsoft.com/office/drawing/2014/main" id="{028910CB-8A39-45B0-A702-DA691ED9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082" y="2570708"/>
            <a:ext cx="2450754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highlight>
                  <a:srgbClr val="423A6A"/>
                </a:highlight>
                <a:latin typeface="Inter"/>
                <a:ea typeface="Inter"/>
                <a:cs typeface="Inter"/>
              </a:rPr>
              <a:t>RAGService · </a:t>
            </a: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src/core — orquestrador</a:t>
            </a:r>
          </a:p>
        </p:txBody>
      </p:sp>
      <p:sp>
        <p:nvSpPr>
          <p:cNvPr id="109" name="Google Shape;109;p18">
            <a:extLst xmlns:a="http://schemas.openxmlformats.org/drawingml/2006/main">
              <a:ext uri="{FF2B5EF4-FFF2-40B4-BE49-F238E27FC236}">
                <a16:creationId xmlns:a16="http://schemas.microsoft.com/office/drawing/2014/main" id="{EF996CAE-D531-4797-83D5-29C8566F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619" y="2906465"/>
            <a:ext cx="4763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0" name="Google Shape;110;p18">
            <a:extLst xmlns:a="http://schemas.openxmlformats.org/drawingml/2006/main">
              <a:ext uri="{FF2B5EF4-FFF2-40B4-BE49-F238E27FC236}">
                <a16:creationId xmlns:a16="http://schemas.microsoft.com/office/drawing/2014/main" id="{F026F171-C2DF-4228-B757-BCD7153E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6965"/>
            <a:ext cx="2324100" cy="372889"/>
          </a:xfrm>
          <a:prstGeom xmlns:a="http://schemas.openxmlformats.org/drawingml/2006/main" prst="roundRect">
            <a:avLst>
              <a:gd name="adj" fmla="val 10218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1" name="Google Shape;111;p18">
            <a:extLst xmlns:a="http://schemas.openxmlformats.org/drawingml/2006/main">
              <a:ext uri="{FF2B5EF4-FFF2-40B4-BE49-F238E27FC236}">
                <a16:creationId xmlns:a16="http://schemas.microsoft.com/office/drawing/2014/main" id="{730D563F-A765-4609-9B74-88658D49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301" y="3187452"/>
            <a:ext cx="2269998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EmbedderPort</a:t>
            </a:r>
          </a:p>
        </p:txBody>
      </p:sp>
      <p:sp>
        <p:nvSpPr>
          <p:cNvPr id="112" name="Google Shape;112;p18">
            <a:extLst xmlns:a="http://schemas.openxmlformats.org/drawingml/2006/main">
              <a:ext uri="{FF2B5EF4-FFF2-40B4-BE49-F238E27FC236}">
                <a16:creationId xmlns:a16="http://schemas.microsoft.com/office/drawing/2014/main" id="{40F4EE2D-A65E-485F-8719-A1D66D306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919" y="3565104"/>
            <a:ext cx="476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3" name="Google Shape;113;p18">
            <a:extLst xmlns:a="http://schemas.openxmlformats.org/drawingml/2006/main">
              <a:ext uri="{FF2B5EF4-FFF2-40B4-BE49-F238E27FC236}">
                <a16:creationId xmlns:a16="http://schemas.microsoft.com/office/drawing/2014/main" id="{0A5C9F9E-2997-401D-B7BF-2EA1C60B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4654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4" name="Google Shape;114;p18">
            <a:extLst xmlns:a="http://schemas.openxmlformats.org/drawingml/2006/main">
              <a:ext uri="{FF2B5EF4-FFF2-40B4-BE49-F238E27FC236}">
                <a16:creationId xmlns:a16="http://schemas.microsoft.com/office/drawing/2014/main" id="{B771CA54-6EC1-44CA-BC63-DBCBC1B6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9" y="3850854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OpenAI-compat · 768d</a:t>
            </a:r>
          </a:p>
        </p:txBody>
      </p:sp>
      <p:sp>
        <p:nvSpPr>
          <p:cNvPr id="115" name="Google Shape;115;p18">
            <a:extLst xmlns:a="http://schemas.openxmlformats.org/drawingml/2006/main">
              <a:ext uri="{FF2B5EF4-FFF2-40B4-BE49-F238E27FC236}">
                <a16:creationId xmlns:a16="http://schemas.microsoft.com/office/drawing/2014/main" id="{A047EE5F-2B17-41F7-BA08-A6DC6182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61309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6" name="Google Shape;116;p18">
            <a:extLst xmlns:a="http://schemas.openxmlformats.org/drawingml/2006/main">
              <a:ext uri="{FF2B5EF4-FFF2-40B4-BE49-F238E27FC236}">
                <a16:creationId xmlns:a16="http://schemas.microsoft.com/office/drawing/2014/main" id="{92CD60B8-E84C-4DB9-AFA0-8B3ED077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589" y="4237509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spaCy · 300d</a:t>
            </a:r>
          </a:p>
        </p:txBody>
      </p:sp>
      <p:sp>
        <p:nvSpPr>
          <p:cNvPr id="117" name="Google Shape;117;p18">
            <a:extLst xmlns:a="http://schemas.openxmlformats.org/drawingml/2006/main">
              <a:ext uri="{FF2B5EF4-FFF2-40B4-BE49-F238E27FC236}">
                <a16:creationId xmlns:a16="http://schemas.microsoft.com/office/drawing/2014/main" id="{6423CF60-906D-4D3B-BBBF-3282F583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96965"/>
            <a:ext cx="2324100" cy="372889"/>
          </a:xfrm>
          <a:prstGeom xmlns:a="http://schemas.openxmlformats.org/drawingml/2006/main" prst="roundRect">
            <a:avLst>
              <a:gd name="adj" fmla="val 10218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18" name="Google Shape;118;p18">
            <a:extLst xmlns:a="http://schemas.openxmlformats.org/drawingml/2006/main">
              <a:ext uri="{FF2B5EF4-FFF2-40B4-BE49-F238E27FC236}">
                <a16:creationId xmlns:a16="http://schemas.microsoft.com/office/drawing/2014/main" id="{001DF7A4-84E7-4D10-AB1B-A64CA232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7001" y="3187452"/>
            <a:ext cx="2269998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LLMPort</a:t>
            </a:r>
          </a:p>
        </p:txBody>
      </p:sp>
      <p:sp>
        <p:nvSpPr>
          <p:cNvPr id="119" name="Google Shape;119;p18">
            <a:extLst xmlns:a="http://schemas.openxmlformats.org/drawingml/2006/main">
              <a:ext uri="{FF2B5EF4-FFF2-40B4-BE49-F238E27FC236}">
                <a16:creationId xmlns:a16="http://schemas.microsoft.com/office/drawing/2014/main" id="{F0A55719-7FB0-43B6-9954-8F99CE27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619" y="3565104"/>
            <a:ext cx="476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0" name="Google Shape;120;p18">
            <a:extLst xmlns:a="http://schemas.openxmlformats.org/drawingml/2006/main">
              <a:ext uri="{FF2B5EF4-FFF2-40B4-BE49-F238E27FC236}">
                <a16:creationId xmlns:a16="http://schemas.microsoft.com/office/drawing/2014/main" id="{3E8354DA-2582-464F-B414-004B5A8B2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74654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1" name="Google Shape;121;p18">
            <a:extLst xmlns:a="http://schemas.openxmlformats.org/drawingml/2006/main">
              <a:ext uri="{FF2B5EF4-FFF2-40B4-BE49-F238E27FC236}">
                <a16:creationId xmlns:a16="http://schemas.microsoft.com/office/drawing/2014/main" id="{188FB5BE-5E0F-403E-9668-B28E7890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288" y="3850854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OpenAI SDK</a:t>
            </a:r>
          </a:p>
        </p:txBody>
      </p:sp>
      <p:sp>
        <p:nvSpPr>
          <p:cNvPr id="122" name="Google Shape;122;p18">
            <a:extLst xmlns:a="http://schemas.openxmlformats.org/drawingml/2006/main">
              <a:ext uri="{FF2B5EF4-FFF2-40B4-BE49-F238E27FC236}">
                <a16:creationId xmlns:a16="http://schemas.microsoft.com/office/drawing/2014/main" id="{2B5B94ED-AD6A-4A4F-9F5A-2E0F16BD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61309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3" name="Google Shape;123;p18">
            <a:extLst xmlns:a="http://schemas.openxmlformats.org/drawingml/2006/main">
              <a:ext uri="{FF2B5EF4-FFF2-40B4-BE49-F238E27FC236}">
                <a16:creationId xmlns:a16="http://schemas.microsoft.com/office/drawing/2014/main" id="{1CFD2AE3-82EF-42BA-BB0B-299010BE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1288" y="4237509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Ollama / Gemini / Groq</a:t>
            </a:r>
          </a:p>
        </p:txBody>
      </p:sp>
      <p:sp>
        <p:nvSpPr>
          <p:cNvPr id="124" name="Google Shape;124;p18">
            <a:extLst xmlns:a="http://schemas.openxmlformats.org/drawingml/2006/main">
              <a:ext uri="{FF2B5EF4-FFF2-40B4-BE49-F238E27FC236}">
                <a16:creationId xmlns:a16="http://schemas.microsoft.com/office/drawing/2014/main" id="{1DC7D36E-7439-4080-B8D6-1995D5B1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96965"/>
            <a:ext cx="2324100" cy="372889"/>
          </a:xfrm>
          <a:prstGeom xmlns:a="http://schemas.openxmlformats.org/drawingml/2006/main" prst="roundRect">
            <a:avLst>
              <a:gd name="adj" fmla="val 10218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5" name="Google Shape;125;p18">
            <a:extLst xmlns:a="http://schemas.openxmlformats.org/drawingml/2006/main">
              <a:ext uri="{FF2B5EF4-FFF2-40B4-BE49-F238E27FC236}">
                <a16:creationId xmlns:a16="http://schemas.microsoft.com/office/drawing/2014/main" id="{262A8F70-F04C-43E8-A80E-798F4C78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701" y="3187452"/>
            <a:ext cx="2269998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RepositoryPort</a:t>
            </a:r>
          </a:p>
        </p:txBody>
      </p:sp>
      <p:sp>
        <p:nvSpPr>
          <p:cNvPr id="126" name="Google Shape;126;p18">
            <a:extLst xmlns:a="http://schemas.openxmlformats.org/drawingml/2006/main">
              <a:ext uri="{FF2B5EF4-FFF2-40B4-BE49-F238E27FC236}">
                <a16:creationId xmlns:a16="http://schemas.microsoft.com/office/drawing/2014/main" id="{943B75E8-D40F-480F-94F0-71AE7A08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319" y="3565104"/>
            <a:ext cx="476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7" name="Google Shape;127;p18">
            <a:extLst xmlns:a="http://schemas.openxmlformats.org/drawingml/2006/main">
              <a:ext uri="{FF2B5EF4-FFF2-40B4-BE49-F238E27FC236}">
                <a16:creationId xmlns:a16="http://schemas.microsoft.com/office/drawing/2014/main" id="{3D29616A-8B8D-4DAE-B9CE-392FA29A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74654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28" name="Google Shape;128;p18">
            <a:extLst xmlns:a="http://schemas.openxmlformats.org/drawingml/2006/main">
              <a:ext uri="{FF2B5EF4-FFF2-40B4-BE49-F238E27FC236}">
                <a16:creationId xmlns:a16="http://schemas.microsoft.com/office/drawing/2014/main" id="{847E92E0-CC17-48FD-924E-775FDFBC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988" y="3850854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PgVectorRepository</a:t>
            </a:r>
          </a:p>
        </p:txBody>
      </p:sp>
      <p:sp>
        <p:nvSpPr>
          <p:cNvPr id="129" name="Google Shape;129;p18">
            <a:extLst xmlns:a="http://schemas.openxmlformats.org/drawingml/2006/main">
              <a:ext uri="{FF2B5EF4-FFF2-40B4-BE49-F238E27FC236}">
                <a16:creationId xmlns:a16="http://schemas.microsoft.com/office/drawing/2014/main" id="{72A1987B-0AFB-46C4-A3BB-0099DED5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161309"/>
            <a:ext cx="2324100" cy="329506"/>
          </a:xfrm>
          <a:prstGeom xmlns:a="http://schemas.openxmlformats.org/drawingml/2006/main" prst="roundRect">
            <a:avLst>
              <a:gd name="adj" fmla="val 11563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0" name="Google Shape;130;p18">
            <a:extLst xmlns:a="http://schemas.openxmlformats.org/drawingml/2006/main">
              <a:ext uri="{FF2B5EF4-FFF2-40B4-BE49-F238E27FC236}">
                <a16:creationId xmlns:a16="http://schemas.microsoft.com/office/drawing/2014/main" id="{D4D6AE1C-F0AC-4DDA-AC4C-8B7F06EA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988" y="4237509"/>
            <a:ext cx="224142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PostgreSQL + pgvector</a:t>
            </a:r>
          </a:p>
        </p:txBody>
      </p:sp>
    </p:spTree>
    <p:extLst>
      <p:ext uri="{BB962C8B-B14F-4D97-AF65-F5344CB8AC3E}">
        <p14:creationId xmlns:p14="http://schemas.microsoft.com/office/powerpoint/2010/main" val="8229842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Google Shape;136;p19">
            <a:extLst xmlns:a="http://schemas.openxmlformats.org/drawingml/2006/main">
              <a:ext uri="{FF2B5EF4-FFF2-40B4-BE49-F238E27FC236}">
                <a16:creationId xmlns:a16="http://schemas.microsoft.com/office/drawing/2014/main" id="{2314B653-06AF-4047-BA18-C5463FCB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7" name="Google Shape;137;p19">
            <a:extLst xmlns:a="http://schemas.openxmlformats.org/drawingml/2006/main">
              <a:ext uri="{FF2B5EF4-FFF2-40B4-BE49-F238E27FC236}">
                <a16:creationId xmlns:a16="http://schemas.microsoft.com/office/drawing/2014/main" id="{C10B43F3-D737-4CC7-A0F8-9901EA22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27489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03 · ARQUITETURA</a:t>
            </a:r>
          </a:p>
        </p:txBody>
      </p:sp>
      <p:sp>
        <p:nvSpPr>
          <p:cNvPr id="138" name="Google Shape;138;p19">
            <a:extLst xmlns:a="http://schemas.openxmlformats.org/drawingml/2006/main">
              <a:ext uri="{FF2B5EF4-FFF2-40B4-BE49-F238E27FC236}">
                <a16:creationId xmlns:a16="http://schemas.microsoft.com/office/drawing/2014/main" id="{E13F7F21-1C55-46F4-82ED-C11A06A6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Endpoints da API</a:t>
            </a:r>
          </a:p>
        </p:txBody>
      </p:sp>
      <p:sp>
        <p:nvSpPr>
          <p:cNvPr id="139" name="Google Shape;139;p19">
            <a:extLst xmlns:a="http://schemas.openxmlformats.org/drawingml/2006/main">
              <a:ext uri="{FF2B5EF4-FFF2-40B4-BE49-F238E27FC236}">
                <a16:creationId xmlns:a16="http://schemas.microsoft.com/office/drawing/2014/main" id="{FFBEEAA8-1798-4D5F-AADB-F7C83736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Quatro rotas HTTP cobrem todo o fluxo, do envio do documento ao status da base</a:t>
            </a:r>
          </a:p>
        </p:txBody>
      </p:sp>
      <p:sp>
        <p:nvSpPr>
          <p:cNvPr id="140" name="Google Shape;140;p19">
            <a:extLst xmlns:a="http://schemas.openxmlformats.org/drawingml/2006/main">
              <a:ext uri="{FF2B5EF4-FFF2-40B4-BE49-F238E27FC236}">
                <a16:creationId xmlns:a16="http://schemas.microsoft.com/office/drawing/2014/main" id="{47987C42-E4E5-47F2-A2D6-A6343770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0208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1" name="Google Shape;141;p19">
            <a:extLst xmlns:a="http://schemas.openxmlformats.org/drawingml/2006/main">
              <a:ext uri="{FF2B5EF4-FFF2-40B4-BE49-F238E27FC236}">
                <a16:creationId xmlns:a16="http://schemas.microsoft.com/office/drawing/2014/main" id="{2378BEF7-4823-497E-92D1-4F1FEE53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2036"/>
            <a:ext cx="1781175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/api/ingest</a:t>
            </a:r>
          </a:p>
        </p:txBody>
      </p:sp>
      <p:sp>
        <p:nvSpPr>
          <p:cNvPr id="142" name="Google Shape;142;p19">
            <a:extLst xmlns:a="http://schemas.openxmlformats.org/drawingml/2006/main">
              <a:ext uri="{FF2B5EF4-FFF2-40B4-BE49-F238E27FC236}">
                <a16:creationId xmlns:a16="http://schemas.microsoft.com/office/drawing/2014/main" id="{B8302874-085E-4AE8-B693-F179EE77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87302"/>
            <a:ext cx="6320798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Recebe um PDF, extrai, segmenta em chunks, gera embeddings e grava no pgvector.</a:t>
            </a:r>
          </a:p>
        </p:txBody>
      </p:sp>
      <p:sp>
        <p:nvSpPr>
          <p:cNvPr id="143" name="Google Shape;143;p19">
            <a:extLst xmlns:a="http://schemas.openxmlformats.org/drawingml/2006/main">
              <a:ext uri="{FF2B5EF4-FFF2-40B4-BE49-F238E27FC236}">
                <a16:creationId xmlns:a16="http://schemas.microsoft.com/office/drawing/2014/main" id="{BEAE34E4-6CB1-4508-AE31-86188430A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70783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4" name="Google Shape;144;p19">
            <a:extLst xmlns:a="http://schemas.openxmlformats.org/drawingml/2006/main">
              <a:ext uri="{FF2B5EF4-FFF2-40B4-BE49-F238E27FC236}">
                <a16:creationId xmlns:a16="http://schemas.microsoft.com/office/drawing/2014/main" id="{7DEF6CDF-CB45-4959-8D43-3BC133203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1883"/>
            <a:ext cx="1781175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/api/extract</a:t>
            </a:r>
          </a:p>
        </p:txBody>
      </p:sp>
      <p:sp>
        <p:nvSpPr>
          <p:cNvPr id="145" name="Google Shape;145;p19">
            <a:extLst xmlns:a="http://schemas.openxmlformats.org/drawingml/2006/main">
              <a:ext uri="{FF2B5EF4-FFF2-40B4-BE49-F238E27FC236}">
                <a16:creationId xmlns:a16="http://schemas.microsoft.com/office/drawing/2014/main" id="{F4342824-5FED-4F2C-A9E4-EFEA54BE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6421"/>
            <a:ext cx="6376988" cy="461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Recebe PDF, texto bruto ou ambos e devolve os campos estruturados, validados e com fontes.</a:t>
            </a:r>
          </a:p>
        </p:txBody>
      </p:sp>
      <p:sp>
        <p:nvSpPr>
          <p:cNvPr id="146" name="Google Shape;146;p19">
            <a:extLst xmlns:a="http://schemas.openxmlformats.org/drawingml/2006/main">
              <a:ext uri="{FF2B5EF4-FFF2-40B4-BE49-F238E27FC236}">
                <a16:creationId xmlns:a16="http://schemas.microsoft.com/office/drawing/2014/main" id="{BD68ED86-FC7A-43CD-ABED-63D6AA0D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9902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47" name="Google Shape;147;p19">
            <a:extLst xmlns:a="http://schemas.openxmlformats.org/drawingml/2006/main">
              <a:ext uri="{FF2B5EF4-FFF2-40B4-BE49-F238E27FC236}">
                <a16:creationId xmlns:a16="http://schemas.microsoft.com/office/drawing/2014/main" id="{1CB7DF40-A26E-414D-A1E9-BCC3B8CA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61730"/>
            <a:ext cx="1781175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/api/query</a:t>
            </a:r>
          </a:p>
        </p:txBody>
      </p:sp>
      <p:sp>
        <p:nvSpPr>
          <p:cNvPr id="148" name="Google Shape;148;p19">
            <a:extLst xmlns:a="http://schemas.openxmlformats.org/drawingml/2006/main">
              <a:ext uri="{FF2B5EF4-FFF2-40B4-BE49-F238E27FC236}">
                <a16:creationId xmlns:a16="http://schemas.microsoft.com/office/drawing/2014/main" id="{8AED8412-861D-4DAD-882C-4E6265A6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46996"/>
            <a:ext cx="6500061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Pergunta em linguagem natural sobre a base já ingerida, com resposta e páginas-fonte.</a:t>
            </a:r>
          </a:p>
        </p:txBody>
      </p:sp>
      <p:sp>
        <p:nvSpPr>
          <p:cNvPr id="149" name="Google Shape;149;p19">
            <a:extLst xmlns:a="http://schemas.openxmlformats.org/drawingml/2006/main">
              <a:ext uri="{FF2B5EF4-FFF2-40B4-BE49-F238E27FC236}">
                <a16:creationId xmlns:a16="http://schemas.microsoft.com/office/drawing/2014/main" id="{AD60FDBD-AD63-443A-8928-6C9EA98F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0849"/>
            <a:ext cx="1781175" cy="2109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GET /api/health</a:t>
            </a:r>
          </a:p>
        </p:txBody>
      </p:sp>
      <p:sp>
        <p:nvSpPr>
          <p:cNvPr id="150" name="Google Shape;150;p19">
            <a:extLst xmlns:a="http://schemas.openxmlformats.org/drawingml/2006/main">
              <a:ext uri="{FF2B5EF4-FFF2-40B4-BE49-F238E27FC236}">
                <a16:creationId xmlns:a16="http://schemas.microsoft.com/office/drawing/2014/main" id="{38A98C46-A510-421B-934C-F8765F2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16115"/>
            <a:ext cx="6205381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Status da base vetorial: quantidade de chunks armazenados e conexão com o LLM.</a:t>
            </a:r>
          </a:p>
        </p:txBody>
      </p:sp>
    </p:spTree>
    <p:extLst>
      <p:ext uri="{BB962C8B-B14F-4D97-AF65-F5344CB8AC3E}">
        <p14:creationId xmlns:p14="http://schemas.microsoft.com/office/powerpoint/2010/main" val="8106115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6" name="Google Shape;156;p20">
            <a:extLst xmlns:a="http://schemas.openxmlformats.org/drawingml/2006/main">
              <a:ext uri="{FF2B5EF4-FFF2-40B4-BE49-F238E27FC236}">
                <a16:creationId xmlns:a16="http://schemas.microsoft.com/office/drawing/2014/main" id="{45E424BA-D211-4279-9DD8-211128BD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57" name="Google Shape;157;p20">
            <a:extLst xmlns:a="http://schemas.openxmlformats.org/drawingml/2006/main">
              <a:ext uri="{FF2B5EF4-FFF2-40B4-BE49-F238E27FC236}">
                <a16:creationId xmlns:a16="http://schemas.microsoft.com/office/drawing/2014/main" id="{3994EC26-4362-461C-869A-940DE08B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27489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03 · ARQUITETURA</a:t>
            </a:r>
          </a:p>
        </p:txBody>
      </p:sp>
      <p:sp>
        <p:nvSpPr>
          <p:cNvPr id="158" name="Google Shape;158;p20">
            <a:extLst xmlns:a="http://schemas.openxmlformats.org/drawingml/2006/main">
              <a:ext uri="{FF2B5EF4-FFF2-40B4-BE49-F238E27FC236}">
                <a16:creationId xmlns:a16="http://schemas.microsoft.com/office/drawing/2014/main" id="{7A388BAE-047B-4956-BB42-B61729EC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Modelos e Componentes</a:t>
            </a:r>
          </a:p>
        </p:txBody>
      </p:sp>
      <p:sp>
        <p:nvSpPr>
          <p:cNvPr id="159" name="Google Shape;159;p20">
            <a:extLst xmlns:a="http://schemas.openxmlformats.org/drawingml/2006/main">
              <a:ext uri="{FF2B5EF4-FFF2-40B4-BE49-F238E27FC236}">
                <a16:creationId xmlns:a16="http://schemas.microsoft.com/office/drawing/2014/main" id="{B0282599-F1FA-4E14-B3CC-005CCD6E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Provider-agnostic: o mesmo SDK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openai </a:t>
            </a: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fala com qualquer endpoint compatível</a:t>
            </a:r>
          </a:p>
        </p:txBody>
      </p:sp>
      <p:sp>
        <p:nvSpPr>
          <p:cNvPr id="160" name="Google Shape;160;p20">
            <a:extLst xmlns:a="http://schemas.openxmlformats.org/drawingml/2006/main">
              <a:ext uri="{FF2B5EF4-FFF2-40B4-BE49-F238E27FC236}">
                <a16:creationId xmlns:a16="http://schemas.microsoft.com/office/drawing/2014/main" id="{08B47625-8644-4BB0-8622-6B9A0A9D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7752"/>
            <a:ext cx="4232910" cy="18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LLM · texto</a:t>
            </a:r>
          </a:p>
        </p:txBody>
      </p:sp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9ECB1ADC-2B2A-4AE1-89AC-1192DEFF4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4616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2" name="Google Shape;162;p20">
            <a:extLst xmlns:a="http://schemas.openxmlformats.org/drawingml/2006/main">
              <a:ext uri="{FF2B5EF4-FFF2-40B4-BE49-F238E27FC236}">
                <a16:creationId xmlns:a16="http://schemas.microsoft.com/office/drawing/2014/main" id="{633AE5AB-EED0-49F8-A8ED-1C706B4D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8409"/>
            <a:ext cx="2390221" cy="21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Ollama (padrão)</a:t>
            </a:r>
          </a:p>
        </p:txBody>
      </p:sp>
      <p:sp>
        <p:nvSpPr>
          <p:cNvPr id="163" name="Google Shape;163;p20">
            <a:extLst xmlns:a="http://schemas.openxmlformats.org/drawingml/2006/main">
              <a:ext uri="{FF2B5EF4-FFF2-40B4-BE49-F238E27FC236}">
                <a16:creationId xmlns:a16="http://schemas.microsoft.com/office/drawing/2014/main" id="{A4382D45-4F48-454B-8DD1-1BEA0D9C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78" y="2148409"/>
            <a:ext cx="1573322" cy="21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phi4-mini</a:t>
            </a:r>
          </a:p>
        </p:txBody>
      </p:sp>
      <p:sp>
        <p:nvSpPr>
          <p:cNvPr id="164" name="Google Shape;164;p20">
            <a:extLst xmlns:a="http://schemas.openxmlformats.org/drawingml/2006/main">
              <a:ext uri="{FF2B5EF4-FFF2-40B4-BE49-F238E27FC236}">
                <a16:creationId xmlns:a16="http://schemas.microsoft.com/office/drawing/2014/main" id="{9BD0FF8E-86BA-4749-8EFD-6B3EB301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34643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5" name="Google Shape;165;p20">
            <a:extLst xmlns:a="http://schemas.openxmlformats.org/drawingml/2006/main">
              <a:ext uri="{FF2B5EF4-FFF2-40B4-BE49-F238E27FC236}">
                <a16:creationId xmlns:a16="http://schemas.microsoft.com/office/drawing/2014/main" id="{921F5BB0-4C3E-48C4-B561-ACE9B53A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054"/>
            <a:ext cx="2390221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OpenAI</a:t>
            </a:r>
          </a:p>
        </p:txBody>
      </p:sp>
      <p:sp>
        <p:nvSpPr>
          <p:cNvPr id="166" name="Google Shape;166;p20">
            <a:extLst xmlns:a="http://schemas.openxmlformats.org/drawingml/2006/main">
              <a:ext uri="{FF2B5EF4-FFF2-40B4-BE49-F238E27FC236}">
                <a16:creationId xmlns:a16="http://schemas.microsoft.com/office/drawing/2014/main" id="{150694F1-83B1-44A5-8294-0520AC6F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78" y="2476054"/>
            <a:ext cx="1573322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gpt-4o-mini etc.</a:t>
            </a:r>
          </a:p>
        </p:txBody>
      </p:sp>
      <p:sp>
        <p:nvSpPr>
          <p:cNvPr id="167" name="Google Shape;167;p20">
            <a:extLst xmlns:a="http://schemas.openxmlformats.org/drawingml/2006/main">
              <a:ext uri="{FF2B5EF4-FFF2-40B4-BE49-F238E27FC236}">
                <a16:creationId xmlns:a16="http://schemas.microsoft.com/office/drawing/2014/main" id="{FECFA142-B000-47A6-B63F-C470FCFB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4669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68" name="Google Shape;168;p20">
            <a:extLst xmlns:a="http://schemas.openxmlformats.org/drawingml/2006/main">
              <a:ext uri="{FF2B5EF4-FFF2-40B4-BE49-F238E27FC236}">
                <a16:creationId xmlns:a16="http://schemas.microsoft.com/office/drawing/2014/main" id="{D0B9D625-6517-4CB5-BB4B-6836D89F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6080"/>
            <a:ext cx="2390221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Gemini / Groq / Together</a:t>
            </a:r>
          </a:p>
        </p:txBody>
      </p:sp>
      <p:sp>
        <p:nvSpPr>
          <p:cNvPr id="169" name="Google Shape;169;p20">
            <a:extLst xmlns:a="http://schemas.openxmlformats.org/drawingml/2006/main">
              <a:ext uri="{FF2B5EF4-FFF2-40B4-BE49-F238E27FC236}">
                <a16:creationId xmlns:a16="http://schemas.microsoft.com/office/drawing/2014/main" id="{146C6D3C-F331-4C2D-8AAF-05B1BE1F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6278" y="2806080"/>
            <a:ext cx="1573322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compatível</a:t>
            </a:r>
          </a:p>
        </p:txBody>
      </p:sp>
      <p:sp>
        <p:nvSpPr>
          <p:cNvPr id="170" name="Google Shape;170;p20">
            <a:extLst xmlns:a="http://schemas.openxmlformats.org/drawingml/2006/main">
              <a:ext uri="{FF2B5EF4-FFF2-40B4-BE49-F238E27FC236}">
                <a16:creationId xmlns:a16="http://schemas.microsoft.com/office/drawing/2014/main" id="{5D03D76E-1C08-4CBC-AC60-D74F1DE3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77752"/>
            <a:ext cx="4232910" cy="189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Embeddings · vetores</a:t>
            </a:r>
          </a:p>
        </p:txBody>
      </p:sp>
      <p:sp>
        <p:nvSpPr>
          <p:cNvPr id="171" name="Google Shape;171;p20">
            <a:extLst xmlns:a="http://schemas.openxmlformats.org/drawingml/2006/main">
              <a:ext uri="{FF2B5EF4-FFF2-40B4-BE49-F238E27FC236}">
                <a16:creationId xmlns:a16="http://schemas.microsoft.com/office/drawing/2014/main" id="{57DEC927-5841-4D37-A18A-076A2827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04616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2" name="Google Shape;172;p20">
            <a:extLst xmlns:a="http://schemas.openxmlformats.org/drawingml/2006/main">
              <a:ext uri="{FF2B5EF4-FFF2-40B4-BE49-F238E27FC236}">
                <a16:creationId xmlns:a16="http://schemas.microsoft.com/office/drawing/2014/main" id="{13DBD67F-EF21-43A8-8117-5EB081D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48409"/>
            <a:ext cx="1529557" cy="21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openai (padrão)</a:t>
            </a:r>
          </a:p>
        </p:txBody>
      </p:sp>
      <p:sp>
        <p:nvSpPr>
          <p:cNvPr id="173" name="Google Shape;173;p20">
            <a:extLst xmlns:a="http://schemas.openxmlformats.org/drawingml/2006/main">
              <a:ext uri="{FF2B5EF4-FFF2-40B4-BE49-F238E27FC236}">
                <a16:creationId xmlns:a16="http://schemas.microsoft.com/office/drawing/2014/main" id="{53177E97-DE81-444F-827E-89004C3D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14" y="2148409"/>
            <a:ext cx="2433986" cy="2133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768d · nomic-embed-text</a:t>
            </a:r>
          </a:p>
        </p:txBody>
      </p:sp>
      <p:sp>
        <p:nvSpPr>
          <p:cNvPr id="174" name="Google Shape;174;p20">
            <a:extLst xmlns:a="http://schemas.openxmlformats.org/drawingml/2006/main">
              <a:ext uri="{FF2B5EF4-FFF2-40B4-BE49-F238E27FC236}">
                <a16:creationId xmlns:a16="http://schemas.microsoft.com/office/drawing/2014/main" id="{617A0FBF-B1D8-478B-93D2-83722F3F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34643"/>
            <a:ext cx="38481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75" name="Google Shape;175;p20">
            <a:extLst xmlns:a="http://schemas.openxmlformats.org/drawingml/2006/main">
              <a:ext uri="{FF2B5EF4-FFF2-40B4-BE49-F238E27FC236}">
                <a16:creationId xmlns:a16="http://schemas.microsoft.com/office/drawing/2014/main" id="{BF66EED5-1BF4-456A-AC7A-C40C163B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76054"/>
            <a:ext cx="1529557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spacy</a:t>
            </a:r>
          </a:p>
        </p:txBody>
      </p:sp>
      <p:sp>
        <p:nvSpPr>
          <p:cNvPr id="176" name="Google Shape;176;p20">
            <a:extLst xmlns:a="http://schemas.openxmlformats.org/drawingml/2006/main">
              <a:ext uri="{FF2B5EF4-FFF2-40B4-BE49-F238E27FC236}">
                <a16:creationId xmlns:a16="http://schemas.microsoft.com/office/drawing/2014/main" id="{9F82B3F0-04B1-423F-ACC8-DA2BA20B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514" y="2476054"/>
            <a:ext cx="2433986" cy="215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300d · pt_core_news_lg</a:t>
            </a:r>
          </a:p>
        </p:txBody>
      </p:sp>
      <p:sp>
        <p:nvSpPr>
          <p:cNvPr id="177" name="Google Shape;177;p20">
            <a:extLst xmlns:a="http://schemas.openxmlformats.org/drawingml/2006/main">
              <a:ext uri="{FF2B5EF4-FFF2-40B4-BE49-F238E27FC236}">
                <a16:creationId xmlns:a16="http://schemas.microsoft.com/office/drawing/2014/main" id="{B95EB5D6-DCE2-41E0-A36C-EC4D3D57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75136"/>
            <a:ext cx="3963543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Cada embedder grava em sua própria tabela (</a:t>
            </a:r>
            <a:r>
              <a:rPr sz="9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chunk </a:t>
            </a: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/ </a:t>
            </a:r>
            <a:r>
              <a:rPr sz="9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chunk_spacy </a:t>
            </a: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) — comparação justa, sem misturar dimensões.</a:t>
            </a:r>
          </a:p>
        </p:txBody>
      </p:sp>
    </p:spTree>
    <p:extLst>
      <p:ext uri="{BB962C8B-B14F-4D97-AF65-F5344CB8AC3E}">
        <p14:creationId xmlns:p14="http://schemas.microsoft.com/office/powerpoint/2010/main" val="978355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3" name="Google Shape;183;p21">
            <a:extLst xmlns:a="http://schemas.openxmlformats.org/drawingml/2006/main">
              <a:ext uri="{FF2B5EF4-FFF2-40B4-BE49-F238E27FC236}">
                <a16:creationId xmlns:a16="http://schemas.microsoft.com/office/drawing/2014/main" id="{7B994440-B651-432A-807C-F5D41B3D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4" name="Google Shape;184;p21">
            <a:extLst xmlns:a="http://schemas.openxmlformats.org/drawingml/2006/main">
              <a:ext uri="{FF2B5EF4-FFF2-40B4-BE49-F238E27FC236}">
                <a16:creationId xmlns:a16="http://schemas.microsoft.com/office/drawing/2014/main" id="{E68F8658-D601-451C-AE1A-48D1EBA9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910724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04 · PIPELINE</a:t>
            </a:r>
          </a:p>
        </p:txBody>
      </p:sp>
      <p:sp>
        <p:nvSpPr>
          <p:cNvPr id="185" name="Google Shape;185;p21">
            <a:extLst xmlns:a="http://schemas.openxmlformats.org/drawingml/2006/main">
              <a:ext uri="{FF2B5EF4-FFF2-40B4-BE49-F238E27FC236}">
                <a16:creationId xmlns:a16="http://schemas.microsoft.com/office/drawing/2014/main" id="{75F4EC66-9366-472F-A7B1-1C8DFA16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Pipeline de Ingestão</a:t>
            </a:r>
          </a:p>
        </p:txBody>
      </p:sp>
      <p:sp>
        <p:nvSpPr>
          <p:cNvPr id="186" name="Google Shape;186;p21">
            <a:extLst xmlns:a="http://schemas.openxmlformats.org/drawingml/2006/main">
              <a:ext uri="{FF2B5EF4-FFF2-40B4-BE49-F238E27FC236}">
                <a16:creationId xmlns:a16="http://schemas.microsoft.com/office/drawing/2014/main" id="{451AFEFF-AA87-48F5-8109-37782119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Rota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/api/ingest</a:t>
            </a:r>
          </a:p>
        </p:txBody>
      </p:sp>
      <p:sp>
        <p:nvSpPr>
          <p:cNvPr id="187" name="Google Shape;187;p21">
            <a:extLst xmlns:a="http://schemas.openxmlformats.org/drawingml/2006/main">
              <a:ext uri="{FF2B5EF4-FFF2-40B4-BE49-F238E27FC236}">
                <a16:creationId xmlns:a16="http://schemas.microsoft.com/office/drawing/2014/main" id="{F9F69EB6-A09F-4041-A006-5D1625B4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205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88" name="Google Shape;188;p21">
            <a:extLst xmlns:a="http://schemas.openxmlformats.org/drawingml/2006/main">
              <a:ext uri="{FF2B5EF4-FFF2-40B4-BE49-F238E27FC236}">
                <a16:creationId xmlns:a16="http://schemas.microsoft.com/office/drawing/2014/main" id="{5CB929F1-AC5E-42B8-B9A5-A26708B0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92052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1</a:t>
            </a:r>
          </a:p>
        </p:txBody>
      </p:sp>
      <p:sp>
        <p:nvSpPr>
          <p:cNvPr id="189" name="Google Shape;189;p21">
            <a:extLst xmlns:a="http://schemas.openxmlformats.org/drawingml/2006/main">
              <a:ext uri="{FF2B5EF4-FFF2-40B4-BE49-F238E27FC236}">
                <a16:creationId xmlns:a16="http://schemas.microsoft.com/office/drawing/2014/main" id="{78957ADF-8160-4A81-B6FE-0136B036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54002"/>
            <a:ext cx="1944886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PyMuPDF</a:t>
            </a:r>
          </a:p>
        </p:txBody>
      </p:sp>
      <p:sp>
        <p:nvSpPr>
          <p:cNvPr id="190" name="Google Shape;190;p21">
            <a:extLst xmlns:a="http://schemas.openxmlformats.org/drawingml/2006/main">
              <a:ext uri="{FF2B5EF4-FFF2-40B4-BE49-F238E27FC236}">
                <a16:creationId xmlns:a16="http://schemas.microsoft.com/office/drawing/2014/main" id="{43662972-7CD5-4AF7-9B9D-EB2B28C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09242"/>
            <a:ext cx="18211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Extrai texto página por página do PDF enviado</a:t>
            </a:r>
          </a:p>
        </p:txBody>
      </p:sp>
      <p:sp>
        <p:nvSpPr>
          <p:cNvPr id="191" name="Google Shape;191;p21">
            <a:extLst xmlns:a="http://schemas.openxmlformats.org/drawingml/2006/main">
              <a:ext uri="{FF2B5EF4-FFF2-40B4-BE49-F238E27FC236}">
                <a16:creationId xmlns:a16="http://schemas.microsoft.com/office/drawing/2014/main" id="{46BBEE3B-2E62-4668-8EF0-7C3F9AAF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978" y="2025402"/>
            <a:ext cx="4763" cy="20227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2" name="Google Shape;192;p21">
            <a:extLst xmlns:a="http://schemas.openxmlformats.org/drawingml/2006/main">
              <a:ext uri="{FF2B5EF4-FFF2-40B4-BE49-F238E27FC236}">
                <a16:creationId xmlns:a16="http://schemas.microsoft.com/office/drawing/2014/main" id="{B313EA92-4EF0-4F39-9931-A66FA2E3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41" y="189205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3" name="Google Shape;193;p21">
            <a:extLst xmlns:a="http://schemas.openxmlformats.org/drawingml/2006/main">
              <a:ext uri="{FF2B5EF4-FFF2-40B4-BE49-F238E27FC236}">
                <a16:creationId xmlns:a16="http://schemas.microsoft.com/office/drawing/2014/main" id="{B26C5FAC-4EFA-4C07-85FA-00813F17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0091" y="1892052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2</a:t>
            </a:r>
          </a:p>
        </p:txBody>
      </p:sp>
      <p:sp>
        <p:nvSpPr>
          <p:cNvPr id="194" name="Google Shape;194;p21">
            <a:extLst xmlns:a="http://schemas.openxmlformats.org/drawingml/2006/main">
              <a:ext uri="{FF2B5EF4-FFF2-40B4-BE49-F238E27FC236}">
                <a16:creationId xmlns:a16="http://schemas.microsoft.com/office/drawing/2014/main" id="{455111D3-31BC-4C7B-AE4A-02E50577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41" y="2254002"/>
            <a:ext cx="1944886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Chunking</a:t>
            </a:r>
          </a:p>
        </p:txBody>
      </p:sp>
      <p:sp>
        <p:nvSpPr>
          <p:cNvPr id="195" name="Google Shape;195;p21">
            <a:extLst xmlns:a="http://schemas.openxmlformats.org/drawingml/2006/main">
              <a:ext uri="{FF2B5EF4-FFF2-40B4-BE49-F238E27FC236}">
                <a16:creationId xmlns:a16="http://schemas.microsoft.com/office/drawing/2014/main" id="{E18CFEFB-C661-47B5-9019-0AB4117B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9141" y="2509242"/>
            <a:ext cx="18211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RecursiveCharacterTextSplitter · 2000 caracteres, overlap 200</a:t>
            </a:r>
          </a:p>
        </p:txBody>
      </p:sp>
      <p:sp>
        <p:nvSpPr>
          <p:cNvPr id="196" name="Google Shape;196;p21">
            <a:extLst xmlns:a="http://schemas.openxmlformats.org/drawingml/2006/main">
              <a:ext uri="{FF2B5EF4-FFF2-40B4-BE49-F238E27FC236}">
                <a16:creationId xmlns:a16="http://schemas.microsoft.com/office/drawing/2014/main" id="{B53C41CF-5747-4028-9716-354F2839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619" y="2025402"/>
            <a:ext cx="4763" cy="20227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7" name="Google Shape;197;p21">
            <a:extLst xmlns:a="http://schemas.openxmlformats.org/drawingml/2006/main">
              <a:ext uri="{FF2B5EF4-FFF2-40B4-BE49-F238E27FC236}">
                <a16:creationId xmlns:a16="http://schemas.microsoft.com/office/drawing/2014/main" id="{39B7A6EC-95FA-4716-8E70-E89E7A0C5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782" y="189205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98" name="Google Shape;198;p21">
            <a:extLst xmlns:a="http://schemas.openxmlformats.org/drawingml/2006/main">
              <a:ext uri="{FF2B5EF4-FFF2-40B4-BE49-F238E27FC236}">
                <a16:creationId xmlns:a16="http://schemas.microsoft.com/office/drawing/2014/main" id="{C1E365E4-CE9E-4BC5-BD60-9E2727D5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7732" y="1892052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3</a:t>
            </a:r>
          </a:p>
        </p:txBody>
      </p:sp>
      <p:sp>
        <p:nvSpPr>
          <p:cNvPr id="199" name="Google Shape;199;p21">
            <a:extLst xmlns:a="http://schemas.openxmlformats.org/drawingml/2006/main">
              <a:ext uri="{FF2B5EF4-FFF2-40B4-BE49-F238E27FC236}">
                <a16:creationId xmlns:a16="http://schemas.microsoft.com/office/drawing/2014/main" id="{2D60E8FD-C8DF-48C3-B6FA-6A8ADCE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782" y="2254002"/>
            <a:ext cx="1944886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Embeddings</a:t>
            </a:r>
          </a:p>
        </p:txBody>
      </p:sp>
      <p:sp>
        <p:nvSpPr>
          <p:cNvPr id="200" name="Google Shape;200;p21">
            <a:extLst xmlns:a="http://schemas.openxmlformats.org/drawingml/2006/main">
              <a:ext uri="{FF2B5EF4-FFF2-40B4-BE49-F238E27FC236}">
                <a16:creationId xmlns:a16="http://schemas.microsoft.com/office/drawing/2014/main" id="{9AC657D8-F3A6-4E77-B960-937027D0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6782" y="2509242"/>
            <a:ext cx="18211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Um vetor por chunk, gerado pelo embedder escolhido</a:t>
            </a:r>
          </a:p>
        </p:txBody>
      </p:sp>
      <p:sp>
        <p:nvSpPr>
          <p:cNvPr id="201" name="Google Shape;201;p21">
            <a:extLst xmlns:a="http://schemas.openxmlformats.org/drawingml/2006/main">
              <a:ext uri="{FF2B5EF4-FFF2-40B4-BE49-F238E27FC236}">
                <a16:creationId xmlns:a16="http://schemas.microsoft.com/office/drawing/2014/main" id="{E79BDDEA-220F-4908-B42F-E9E71C0E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260" y="2025402"/>
            <a:ext cx="4763" cy="202272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2" name="Google Shape;202;p21">
            <a:extLst xmlns:a="http://schemas.openxmlformats.org/drawingml/2006/main">
              <a:ext uri="{FF2B5EF4-FFF2-40B4-BE49-F238E27FC236}">
                <a16:creationId xmlns:a16="http://schemas.microsoft.com/office/drawing/2014/main" id="{3D9D1EC7-1765-4B0D-AA3F-48FBF694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422" y="1892052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03" name="Google Shape;203;p21">
            <a:extLst xmlns:a="http://schemas.openxmlformats.org/drawingml/2006/main">
              <a:ext uri="{FF2B5EF4-FFF2-40B4-BE49-F238E27FC236}">
                <a16:creationId xmlns:a16="http://schemas.microsoft.com/office/drawing/2014/main" id="{EEDA20D6-D11B-42D8-B0CF-B7D12754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5372" y="1892052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4</a:t>
            </a:r>
          </a:p>
        </p:txBody>
      </p:sp>
      <p:sp>
        <p:nvSpPr>
          <p:cNvPr id="204" name="Google Shape;204;p21">
            <a:extLst xmlns:a="http://schemas.openxmlformats.org/drawingml/2006/main">
              <a:ext uri="{FF2B5EF4-FFF2-40B4-BE49-F238E27FC236}">
                <a16:creationId xmlns:a16="http://schemas.microsoft.com/office/drawing/2014/main" id="{E2F5B3A8-AE79-493B-A9D8-F8BE28DD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422" y="2254002"/>
            <a:ext cx="1944886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pgvector</a:t>
            </a:r>
          </a:p>
        </p:txBody>
      </p:sp>
      <p:sp>
        <p:nvSpPr>
          <p:cNvPr id="205" name="Google Shape;205;p21">
            <a:extLst xmlns:a="http://schemas.openxmlformats.org/drawingml/2006/main">
              <a:ext uri="{FF2B5EF4-FFF2-40B4-BE49-F238E27FC236}">
                <a16:creationId xmlns:a16="http://schemas.microsoft.com/office/drawing/2014/main" id="{9F9B9308-353F-4E99-8D9E-26F34834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4422" y="2509242"/>
            <a:ext cx="1821121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1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Armazenamento vetorial persistente no PostgreSQL</a:t>
            </a:r>
          </a:p>
        </p:txBody>
      </p:sp>
      <p:sp>
        <p:nvSpPr>
          <p:cNvPr id="206" name="Google Shape;206;p21">
            <a:extLst xmlns:a="http://schemas.openxmlformats.org/drawingml/2006/main">
              <a:ext uri="{FF2B5EF4-FFF2-40B4-BE49-F238E27FC236}">
                <a16:creationId xmlns:a16="http://schemas.microsoft.com/office/drawing/2014/main" id="{1DE7E8AC-5087-45F8-B502-B084FC93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14825"/>
            <a:ext cx="686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Chunks curtos separavam atores, fatos e justificativas do mesmo contexto discursivo — o overlap mantém a continuidade entre fronteiras.</a:t>
            </a:r>
          </a:p>
        </p:txBody>
      </p:sp>
    </p:spTree>
    <p:extLst>
      <p:ext uri="{BB962C8B-B14F-4D97-AF65-F5344CB8AC3E}">
        <p14:creationId xmlns:p14="http://schemas.microsoft.com/office/powerpoint/2010/main" val="2742654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2" name="Google Shape;212;p22">
            <a:extLst xmlns:a="http://schemas.openxmlformats.org/drawingml/2006/main">
              <a:ext uri="{FF2B5EF4-FFF2-40B4-BE49-F238E27FC236}">
                <a16:creationId xmlns:a16="http://schemas.microsoft.com/office/drawing/2014/main" id="{5E8C95FA-D877-4A13-B1E1-9CE3CE76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3" name="Google Shape;213;p22">
            <a:extLst xmlns:a="http://schemas.openxmlformats.org/drawingml/2006/main">
              <a:ext uri="{FF2B5EF4-FFF2-40B4-BE49-F238E27FC236}">
                <a16:creationId xmlns:a16="http://schemas.microsoft.com/office/drawing/2014/main" id="{F426EF50-9D75-4B02-B950-4D5BBF6B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910724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04 · PIPELINE</a:t>
            </a:r>
          </a:p>
        </p:txBody>
      </p:sp>
      <p:sp>
        <p:nvSpPr>
          <p:cNvPr id="214" name="Google Shape;214;p22">
            <a:extLst xmlns:a="http://schemas.openxmlformats.org/drawingml/2006/main">
              <a:ext uri="{FF2B5EF4-FFF2-40B4-BE49-F238E27FC236}">
                <a16:creationId xmlns:a16="http://schemas.microsoft.com/office/drawing/2014/main" id="{D8FCBAE7-0A8F-4D17-AD57-E659B034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Recuperação Vetorial</a:t>
            </a:r>
          </a:p>
        </p:txBody>
      </p:sp>
      <p:sp>
        <p:nvSpPr>
          <p:cNvPr id="215" name="Google Shape;215;p22">
            <a:extLst xmlns:a="http://schemas.openxmlformats.org/drawingml/2006/main">
              <a:ext uri="{FF2B5EF4-FFF2-40B4-BE49-F238E27FC236}">
                <a16:creationId xmlns:a16="http://schemas.microsoft.com/office/drawing/2014/main" id="{1BD3B918-7A0D-4785-A8D6-FE75C99E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Rotas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/api/query </a:t>
            </a: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e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/api/extract</a:t>
            </a:r>
          </a:p>
        </p:txBody>
      </p:sp>
      <p:sp>
        <p:nvSpPr>
          <p:cNvPr id="216" name="Google Shape;216;p22">
            <a:extLst xmlns:a="http://schemas.openxmlformats.org/drawingml/2006/main">
              <a:ext uri="{FF2B5EF4-FFF2-40B4-BE49-F238E27FC236}">
                <a16:creationId xmlns:a16="http://schemas.microsoft.com/office/drawing/2014/main" id="{0CD151BC-E089-460C-AAD6-8EEB260A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002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7" name="Google Shape;217;p22">
            <a:extLst xmlns:a="http://schemas.openxmlformats.org/drawingml/2006/main">
              <a:ext uri="{FF2B5EF4-FFF2-40B4-BE49-F238E27FC236}">
                <a16:creationId xmlns:a16="http://schemas.microsoft.com/office/drawing/2014/main" id="{8EBDBB8A-1576-411A-B68E-95F5862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2876"/>
            <a:ext cx="3859381" cy="4333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A pergunta vira vetor e o pgvector busca os trechos mais próximos por distância de cosseno.</a:t>
            </a:r>
          </a:p>
        </p:txBody>
      </p:sp>
      <p:sp>
        <p:nvSpPr>
          <p:cNvPr id="218" name="Google Shape;218;p22">
            <a:extLst xmlns:a="http://schemas.openxmlformats.org/drawingml/2006/main">
              <a:ext uri="{FF2B5EF4-FFF2-40B4-BE49-F238E27FC236}">
                <a16:creationId xmlns:a16="http://schemas.microsoft.com/office/drawing/2014/main" id="{24F0B593-D4DD-4506-BC57-6C9EEEFE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772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19" name="Google Shape;219;p22">
            <a:extLst xmlns:a="http://schemas.openxmlformats.org/drawingml/2006/main">
              <a:ext uri="{FF2B5EF4-FFF2-40B4-BE49-F238E27FC236}">
                <a16:creationId xmlns:a16="http://schemas.microsoft.com/office/drawing/2014/main" id="{78088D09-56BB-4F19-B229-A19A22D1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0576"/>
            <a:ext cx="3795687" cy="433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Os trechos recuperados entram no prompt; o LLM responde e informa as páginas usadas como fonte.</a:t>
            </a:r>
          </a:p>
        </p:txBody>
      </p:sp>
      <p:sp>
        <p:nvSpPr>
          <p:cNvPr id="220" name="Google Shape;220;p22">
            <a:extLst xmlns:a="http://schemas.openxmlformats.org/drawingml/2006/main">
              <a:ext uri="{FF2B5EF4-FFF2-40B4-BE49-F238E27FC236}">
                <a16:creationId xmlns:a16="http://schemas.microsoft.com/office/drawing/2014/main" id="{35FD796D-F06A-49F2-8929-0F4F320E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542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1" name="Google Shape;221;p22">
            <a:extLst xmlns:a="http://schemas.openxmlformats.org/drawingml/2006/main">
              <a:ext uri="{FF2B5EF4-FFF2-40B4-BE49-F238E27FC236}">
                <a16:creationId xmlns:a16="http://schemas.microsoft.com/office/drawing/2014/main" id="{5A2B571C-CA8E-496E-AE06-8E2F6AD7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8276"/>
            <a:ext cx="263202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Em</a:t>
            </a:r>
          </a:p>
        </p:txBody>
      </p:sp>
      <p:sp>
        <p:nvSpPr>
          <p:cNvPr id="222" name="Google Shape;222;p22">
            <a:extLst xmlns:a="http://schemas.openxmlformats.org/drawingml/2006/main">
              <a:ext uri="{FF2B5EF4-FFF2-40B4-BE49-F238E27FC236}">
                <a16:creationId xmlns:a16="http://schemas.microsoft.com/office/drawing/2014/main" id="{BECCE288-8152-4B11-823A-C28AA20E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65" y="3708276"/>
            <a:ext cx="90966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/api/extract</a:t>
            </a:r>
          </a:p>
        </p:txBody>
      </p:sp>
      <p:sp>
        <p:nvSpPr>
          <p:cNvPr id="223" name="Google Shape;223;p22">
            <a:extLst xmlns:a="http://schemas.openxmlformats.org/drawingml/2006/main">
              <a:ext uri="{FF2B5EF4-FFF2-40B4-BE49-F238E27FC236}">
                <a16:creationId xmlns:a16="http://schemas.microsoft.com/office/drawing/2014/main" id="{037AF743-B04C-425A-841B-09DBF43A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08273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Em /api/extract, o mesmo mecanismo apoia a normalização quando top_k &gt; 0.</a:t>
            </a:r>
          </a:p>
        </p:txBody>
      </p:sp>
      <p:sp>
        <p:nvSpPr>
          <p:cNvPr id="224" name="Google Shape;224;p22">
            <a:extLst xmlns:a="http://schemas.openxmlformats.org/drawingml/2006/main">
              <a:ext uri="{FF2B5EF4-FFF2-40B4-BE49-F238E27FC236}">
                <a16:creationId xmlns:a16="http://schemas.microsoft.com/office/drawing/2014/main" id="{1742600E-33D0-4A1E-9315-2D542AF9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986" y="3936876"/>
            <a:ext cx="73719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top_k &gt; 0</a:t>
            </a:r>
          </a:p>
        </p:txBody>
      </p:sp>
      <p:sp>
        <p:nvSpPr>
          <p:cNvPr id="225" name="Google Shape;225;p22">
            <a:extLst xmlns:a="http://schemas.openxmlformats.org/drawingml/2006/main">
              <a:ext uri="{FF2B5EF4-FFF2-40B4-BE49-F238E27FC236}">
                <a16:creationId xmlns:a16="http://schemas.microsoft.com/office/drawing/2014/main" id="{C6111011-663C-4031-A4E1-2644DD56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7159" y="3936876"/>
            <a:ext cx="82004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0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.</a:t>
            </a:r>
          </a:p>
        </p:txBody>
      </p:sp>
      <p:sp>
        <p:nvSpPr>
          <p:cNvPr id="226" name="Google Shape;226;p22">
            <a:extLst xmlns:a="http://schemas.openxmlformats.org/drawingml/2006/main">
              <a:ext uri="{FF2B5EF4-FFF2-40B4-BE49-F238E27FC236}">
                <a16:creationId xmlns:a16="http://schemas.microsoft.com/office/drawing/2014/main" id="{7F4ED7D3-EA10-4418-8F7D-8C50F1B9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40558"/>
            <a:ext cx="3429000" cy="1659136"/>
          </a:xfrm>
          <a:prstGeom xmlns:a="http://schemas.openxmlformats.org/drawingml/2006/main" prst="roundRect">
            <a:avLst>
              <a:gd name="adj" fmla="val 4019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7" name="Google Shape;227;p22">
            <a:extLst xmlns:a="http://schemas.openxmlformats.org/drawingml/2006/main">
              <a:ext uri="{FF2B5EF4-FFF2-40B4-BE49-F238E27FC236}">
                <a16:creationId xmlns:a16="http://schemas.microsoft.com/office/drawing/2014/main" id="{9C8B497B-9E8F-4FD4-8F10-5FD3CD4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69158"/>
            <a:ext cx="3268980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PERGUNTA</a:t>
            </a:r>
          </a:p>
        </p:txBody>
      </p:sp>
      <p:sp>
        <p:nvSpPr>
          <p:cNvPr id="228" name="Google Shape;228;p22">
            <a:extLst xmlns:a="http://schemas.openxmlformats.org/drawingml/2006/main">
              <a:ext uri="{FF2B5EF4-FFF2-40B4-BE49-F238E27FC236}">
                <a16:creationId xmlns:a16="http://schemas.microsoft.com/office/drawing/2014/main" id="{E3555485-BC90-4CA8-8FA7-85FAEDDA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60564"/>
            <a:ext cx="326898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O relatório menciona Jair Bolsonaro?</a:t>
            </a:r>
          </a:p>
        </p:txBody>
      </p:sp>
      <p:sp>
        <p:nvSpPr>
          <p:cNvPr id="229" name="Google Shape;229;p22">
            <a:extLst xmlns:a="http://schemas.openxmlformats.org/drawingml/2006/main">
              <a:ext uri="{FF2B5EF4-FFF2-40B4-BE49-F238E27FC236}">
                <a16:creationId xmlns:a16="http://schemas.microsoft.com/office/drawing/2014/main" id="{FC01EC7D-496B-4D34-941B-45F50DB7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74888"/>
            <a:ext cx="2971800" cy="47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0" name="Google Shape;230;p22">
            <a:extLst xmlns:a="http://schemas.openxmlformats.org/drawingml/2006/main">
              <a:ext uri="{FF2B5EF4-FFF2-40B4-BE49-F238E27FC236}">
                <a16:creationId xmlns:a16="http://schemas.microsoft.com/office/drawing/2014/main" id="{ED900F80-81AC-4960-BC8A-E4544BE9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93951"/>
            <a:ext cx="3268980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FONTES CITADAS</a:t>
            </a:r>
          </a:p>
        </p:txBody>
      </p:sp>
      <p:sp>
        <p:nvSpPr>
          <p:cNvPr id="231" name="Google Shape;231;p22">
            <a:extLst xmlns:a="http://schemas.openxmlformats.org/drawingml/2006/main">
              <a:ext uri="{FF2B5EF4-FFF2-40B4-BE49-F238E27FC236}">
                <a16:creationId xmlns:a16="http://schemas.microsoft.com/office/drawing/2014/main" id="{D8809733-4130-4CCF-8EE9-84CCF689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85357"/>
            <a:ext cx="326898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Página 486 · Página 1281</a:t>
            </a:r>
          </a:p>
        </p:txBody>
      </p:sp>
    </p:spTree>
    <p:extLst>
      <p:ext uri="{BB962C8B-B14F-4D97-AF65-F5344CB8AC3E}">
        <p14:creationId xmlns:p14="http://schemas.microsoft.com/office/powerpoint/2010/main" val="3435258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Google Shape;237;p23">
            <a:extLst xmlns:a="http://schemas.openxmlformats.org/drawingml/2006/main">
              <a:ext uri="{FF2B5EF4-FFF2-40B4-BE49-F238E27FC236}">
                <a16:creationId xmlns:a16="http://schemas.microsoft.com/office/drawing/2014/main" id="{559A1A09-E512-4DF4-9E19-98AA2E3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8" name="Google Shape;238;p23">
            <a:extLst xmlns:a="http://schemas.openxmlformats.org/drawingml/2006/main">
              <a:ext uri="{FF2B5EF4-FFF2-40B4-BE49-F238E27FC236}">
                <a16:creationId xmlns:a16="http://schemas.microsoft.com/office/drawing/2014/main" id="{30635691-5917-43F4-9F18-A1939421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073125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05 · VALIDAÇÃO</a:t>
            </a:r>
          </a:p>
        </p:txBody>
      </p:sp>
      <p:sp>
        <p:nvSpPr>
          <p:cNvPr id="239" name="Google Shape;239;p23">
            <a:extLst xmlns:a="http://schemas.openxmlformats.org/drawingml/2006/main">
              <a:ext uri="{FF2B5EF4-FFF2-40B4-BE49-F238E27FC236}">
                <a16:creationId xmlns:a16="http://schemas.microsoft.com/office/drawing/2014/main" id="{EFD6248D-A345-4A78-A780-39B118D8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Extração Estruturada e Validação</a:t>
            </a:r>
          </a:p>
        </p:txBody>
      </p:sp>
      <p:sp>
        <p:nvSpPr>
          <p:cNvPr id="240" name="Google Shape;240;p23">
            <a:extLst xmlns:a="http://schemas.openxmlformats.org/drawingml/2006/main">
              <a:ext uri="{FF2B5EF4-FFF2-40B4-BE49-F238E27FC236}">
                <a16:creationId xmlns:a16="http://schemas.microsoft.com/office/drawing/2014/main" id="{DAC2C8C9-E453-4C5E-8AD7-433FB296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Rota </a:t>
            </a: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POST /api/extract </a:t>
            </a: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— validação em camadas</a:t>
            </a:r>
          </a:p>
        </p:txBody>
      </p:sp>
      <p:sp>
        <p:nvSpPr>
          <p:cNvPr id="241" name="Google Shape;241;p23">
            <a:extLst xmlns:a="http://schemas.openxmlformats.org/drawingml/2006/main">
              <a:ext uri="{FF2B5EF4-FFF2-40B4-BE49-F238E27FC236}">
                <a16:creationId xmlns:a16="http://schemas.microsoft.com/office/drawing/2014/main" id="{336C8E8E-4C93-43F4-96BC-7829F307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5852"/>
            <a:ext cx="1730127" cy="473348"/>
          </a:xfrm>
          <a:prstGeom xmlns:a="http://schemas.openxmlformats.org/drawingml/2006/main" prst="roundRect">
            <a:avLst>
              <a:gd name="adj" fmla="val 8049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2" name="Google Shape;242;p23">
            <a:extLst xmlns:a="http://schemas.openxmlformats.org/drawingml/2006/main">
              <a:ext uri="{FF2B5EF4-FFF2-40B4-BE49-F238E27FC236}">
                <a16:creationId xmlns:a16="http://schemas.microsoft.com/office/drawing/2014/main" id="{55DA0588-97CC-4E95-A7EF-9C15C3BA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48" y="1949202"/>
            <a:ext cx="1629631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json.loads</a:t>
            </a:r>
          </a:p>
        </p:txBody>
      </p:sp>
      <p:sp>
        <p:nvSpPr>
          <p:cNvPr id="243" name="Google Shape;243;p23">
            <a:extLst xmlns:a="http://schemas.openxmlformats.org/drawingml/2006/main">
              <a:ext uri="{FF2B5EF4-FFF2-40B4-BE49-F238E27FC236}">
                <a16:creationId xmlns:a16="http://schemas.microsoft.com/office/drawing/2014/main" id="{8FC22E21-20B0-4569-A951-572B787C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927" y="1934394"/>
            <a:ext cx="169590" cy="25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4" name="Google Shape;244;p23">
            <a:extLst xmlns:a="http://schemas.openxmlformats.org/drawingml/2006/main">
              <a:ext uri="{FF2B5EF4-FFF2-40B4-BE49-F238E27FC236}">
                <a16:creationId xmlns:a16="http://schemas.microsoft.com/office/drawing/2014/main" id="{6C1C5165-BA74-47EA-A9B4-CDC429E5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717" y="1815852"/>
            <a:ext cx="1730202" cy="473348"/>
          </a:xfrm>
          <a:prstGeom xmlns:a="http://schemas.openxmlformats.org/drawingml/2006/main" prst="roundRect">
            <a:avLst>
              <a:gd name="adj" fmla="val 8049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5" name="Google Shape;245;p23">
            <a:extLst xmlns:a="http://schemas.openxmlformats.org/drawingml/2006/main">
              <a:ext uri="{FF2B5EF4-FFF2-40B4-BE49-F238E27FC236}">
                <a16:creationId xmlns:a16="http://schemas.microsoft.com/office/drawing/2014/main" id="{EF0B78F7-86B1-423B-92F7-CE3B71AC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1964" y="1949202"/>
            <a:ext cx="1629708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reparo via LLM</a:t>
            </a:r>
          </a:p>
        </p:txBody>
      </p:sp>
      <p:sp>
        <p:nvSpPr>
          <p:cNvPr id="246" name="Google Shape;246;p23">
            <a:extLst xmlns:a="http://schemas.openxmlformats.org/drawingml/2006/main">
              <a:ext uri="{FF2B5EF4-FFF2-40B4-BE49-F238E27FC236}">
                <a16:creationId xmlns:a16="http://schemas.microsoft.com/office/drawing/2014/main" id="{10B62EAC-E9E5-44A4-8459-4DCB5E0E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218" y="1934394"/>
            <a:ext cx="169589" cy="25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47" name="Google Shape;247;p23">
            <a:extLst xmlns:a="http://schemas.openxmlformats.org/drawingml/2006/main">
              <a:ext uri="{FF2B5EF4-FFF2-40B4-BE49-F238E27FC236}">
                <a16:creationId xmlns:a16="http://schemas.microsoft.com/office/drawing/2014/main" id="{25624AC0-8549-47BA-9716-6CFAFF52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008" y="1815852"/>
            <a:ext cx="1730202" cy="473348"/>
          </a:xfrm>
          <a:prstGeom xmlns:a="http://schemas.openxmlformats.org/drawingml/2006/main" prst="roundRect">
            <a:avLst>
              <a:gd name="adj" fmla="val 8049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48" name="Google Shape;248;p23">
            <a:extLst xmlns:a="http://schemas.openxmlformats.org/drawingml/2006/main">
              <a:ext uri="{FF2B5EF4-FFF2-40B4-BE49-F238E27FC236}">
                <a16:creationId xmlns:a16="http://schemas.microsoft.com/office/drawing/2014/main" id="{12D8A6C4-F1AE-46BD-8532-045FD0EC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255" y="1949202"/>
            <a:ext cx="1629707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validação dos campos</a:t>
            </a:r>
          </a:p>
        </p:txBody>
      </p:sp>
      <p:sp>
        <p:nvSpPr>
          <p:cNvPr id="249" name="Google Shape;249;p23">
            <a:extLst xmlns:a="http://schemas.openxmlformats.org/drawingml/2006/main">
              <a:ext uri="{FF2B5EF4-FFF2-40B4-BE49-F238E27FC236}">
                <a16:creationId xmlns:a16="http://schemas.microsoft.com/office/drawing/2014/main" id="{CA1A6461-A3E1-4B7F-9C98-062B7CE0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509" y="1934394"/>
            <a:ext cx="169590" cy="255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1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50" name="Google Shape;250;p23">
            <a:extLst xmlns:a="http://schemas.openxmlformats.org/drawingml/2006/main">
              <a:ext uri="{FF2B5EF4-FFF2-40B4-BE49-F238E27FC236}">
                <a16:creationId xmlns:a16="http://schemas.microsoft.com/office/drawing/2014/main" id="{4E0B322C-A3C3-4EF1-B25F-541C915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98" y="1815852"/>
            <a:ext cx="1730202" cy="473348"/>
          </a:xfrm>
          <a:prstGeom xmlns:a="http://schemas.openxmlformats.org/drawingml/2006/main" prst="roundRect">
            <a:avLst>
              <a:gd name="adj" fmla="val 8049"/>
            </a:avLst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1" name="Google Shape;251;p23">
            <a:extLst xmlns:a="http://schemas.openxmlformats.org/drawingml/2006/main">
              <a:ext uri="{FF2B5EF4-FFF2-40B4-BE49-F238E27FC236}">
                <a16:creationId xmlns:a16="http://schemas.microsoft.com/office/drawing/2014/main" id="{63C56597-979D-4388-8D20-338DFF34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546" y="1949202"/>
            <a:ext cx="1629707" cy="225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fallbacks rastreáveis</a:t>
            </a:r>
          </a:p>
        </p:txBody>
      </p:sp>
      <p:sp>
        <p:nvSpPr>
          <p:cNvPr id="252" name="Google Shape;252;p23">
            <a:extLst xmlns:a="http://schemas.openxmlformats.org/drawingml/2006/main">
              <a:ext uri="{FF2B5EF4-FFF2-40B4-BE49-F238E27FC236}">
                <a16:creationId xmlns:a16="http://schemas.microsoft.com/office/drawing/2014/main" id="{75AB65AB-C504-4932-A43C-E638C71D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69382"/>
            <a:ext cx="3597957" cy="168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2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Campos obrigatórios</a:t>
            </a:r>
          </a:p>
        </p:txBody>
      </p:sp>
      <p:sp>
        <p:nvSpPr>
          <p:cNvPr id="253" name="Google Shape;253;p23">
            <a:extLst xmlns:a="http://schemas.openxmlformats.org/drawingml/2006/main">
              <a:ext uri="{FF2B5EF4-FFF2-40B4-BE49-F238E27FC236}">
                <a16:creationId xmlns:a16="http://schemas.microsoft.com/office/drawing/2014/main" id="{CA1878EB-A009-4F73-B1C0-24E211A2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94931"/>
            <a:ext cx="3597957" cy="217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341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document_type · title · main_event · facts</a:t>
            </a:r>
          </a:p>
        </p:txBody>
      </p:sp>
      <p:sp>
        <p:nvSpPr>
          <p:cNvPr id="254" name="Google Shape;254;p23">
            <a:extLst xmlns:a="http://schemas.openxmlformats.org/drawingml/2006/main">
              <a:ext uri="{FF2B5EF4-FFF2-40B4-BE49-F238E27FC236}">
                <a16:creationId xmlns:a16="http://schemas.microsoft.com/office/drawing/2014/main" id="{3A2E9BFF-0244-4228-821E-8D46C68D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2571"/>
            <a:ext cx="3597957" cy="1683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23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Status + proveniência</a:t>
            </a:r>
          </a:p>
        </p:txBody>
      </p:sp>
      <p:sp>
        <p:nvSpPr>
          <p:cNvPr id="255" name="Google Shape;255;p23">
            <a:extLst xmlns:a="http://schemas.openxmlformats.org/drawingml/2006/main">
              <a:ext uri="{FF2B5EF4-FFF2-40B4-BE49-F238E27FC236}">
                <a16:creationId xmlns:a16="http://schemas.microsoft.com/office/drawing/2014/main" id="{3D23F4AC-DE17-47C4-ABD8-4AB1393C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8120"/>
            <a:ext cx="443731" cy="281881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3A6A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6" name="Google Shape;256;p23">
            <a:extLst xmlns:a="http://schemas.openxmlformats.org/drawingml/2006/main">
              <a:ext uri="{FF2B5EF4-FFF2-40B4-BE49-F238E27FC236}">
                <a16:creationId xmlns:a16="http://schemas.microsoft.com/office/drawing/2014/main" id="{65A3F096-2C99-4A74-8849-D998560A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5745"/>
            <a:ext cx="291331" cy="205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F5F4FF"/>
                </a:solidFill>
                <a:latin typeface="Inter"/>
                <a:ea typeface="Inter"/>
                <a:cs typeface="Inter"/>
              </a:rPr>
              <a:t>valid</a:t>
            </a:r>
          </a:p>
        </p:txBody>
      </p:sp>
      <p:sp>
        <p:nvSpPr>
          <p:cNvPr id="257" name="Google Shape;257;p23">
            <a:extLst xmlns:a="http://schemas.openxmlformats.org/drawingml/2006/main">
              <a:ext uri="{FF2B5EF4-FFF2-40B4-BE49-F238E27FC236}">
                <a16:creationId xmlns:a16="http://schemas.microsoft.com/office/drawing/2014/main" id="{1EB0DEA5-EF20-4185-9D62-2088E587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06" y="4128120"/>
            <a:ext cx="537121" cy="281881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58" name="Google Shape;258;p23">
            <a:extLst xmlns:a="http://schemas.openxmlformats.org/drawingml/2006/main">
              <a:ext uri="{FF2B5EF4-FFF2-40B4-BE49-F238E27FC236}">
                <a16:creationId xmlns:a16="http://schemas.microsoft.com/office/drawing/2014/main" id="{D9727B8F-FF44-4A31-93A3-B3ACA68B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918" y="4180508"/>
            <a:ext cx="375196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partial</a:t>
            </a:r>
          </a:p>
        </p:txBody>
      </p:sp>
      <p:sp>
        <p:nvSpPr>
          <p:cNvPr id="259" name="Google Shape;259;p23">
            <a:extLst xmlns:a="http://schemas.openxmlformats.org/drawingml/2006/main">
              <a:ext uri="{FF2B5EF4-FFF2-40B4-BE49-F238E27FC236}">
                <a16:creationId xmlns:a16="http://schemas.microsoft.com/office/drawing/2014/main" id="{A1C8FB36-F6CF-44CD-A885-78D3BF3A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702" y="4128120"/>
            <a:ext cx="546795" cy="281881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rgbClr val="E6E6EC">
                <a:alpha val="16078"/>
              </a:srgbClr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0" name="Google Shape;260;p23">
            <a:extLst xmlns:a="http://schemas.openxmlformats.org/drawingml/2006/main">
              <a:ext uri="{FF2B5EF4-FFF2-40B4-BE49-F238E27FC236}">
                <a16:creationId xmlns:a16="http://schemas.microsoft.com/office/drawing/2014/main" id="{5536B37C-7538-4479-9669-7AE1AB52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715" y="4180508"/>
            <a:ext cx="384869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invalid</a:t>
            </a:r>
          </a:p>
        </p:txBody>
      </p:sp>
      <p:sp>
        <p:nvSpPr>
          <p:cNvPr id="261" name="Google Shape;261;p23">
            <a:extLst xmlns:a="http://schemas.openxmlformats.org/drawingml/2006/main">
              <a:ext uri="{FF2B5EF4-FFF2-40B4-BE49-F238E27FC236}">
                <a16:creationId xmlns:a16="http://schemas.microsoft.com/office/drawing/2014/main" id="{F7AD5145-7F9A-4662-9779-F4479FB34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7170" y="2555900"/>
            <a:ext cx="4425330" cy="2567583"/>
          </a:xfrm>
          <a:prstGeom xmlns:a="http://schemas.openxmlformats.org/drawingml/2006/main" prst="roundRect">
            <a:avLst>
              <a:gd name="adj" fmla="val 1484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  <a:effectLst xmlns:a="http://schemas.openxmlformats.org/drawingml/2006/main">
            <a:outerShdw blurRad="101600" dist="50800" dir="16200000" algn="bl" rotWithShape="0">
              <a:srgbClr val="595D6C"/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88" name="Google Shape;262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0819be6719497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47170" y="2555900"/>
            <a:ext cx="4425330" cy="25675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981205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8" name="Google Shape;268;p24">
            <a:extLst xmlns:a="http://schemas.openxmlformats.org/drawingml/2006/main">
              <a:ext uri="{FF2B5EF4-FFF2-40B4-BE49-F238E27FC236}">
                <a16:creationId xmlns:a16="http://schemas.microsoft.com/office/drawing/2014/main" id="{BC5FDC3C-D44F-43F5-AFCF-936D6551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4637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69" name="Google Shape;269;p24">
            <a:extLst xmlns:a="http://schemas.openxmlformats.org/drawingml/2006/main">
              <a:ext uri="{FF2B5EF4-FFF2-40B4-BE49-F238E27FC236}">
                <a16:creationId xmlns:a16="http://schemas.microsoft.com/office/drawing/2014/main" id="{A18FB860-F41F-48E4-B9BA-25859736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922734"/>
            <a:ext cx="4421237" cy="3297957"/>
          </a:xfrm>
          <a:prstGeom xmlns:a="http://schemas.openxmlformats.org/drawingml/2006/main" prst="roundRect">
            <a:avLst>
              <a:gd name="adj" fmla="val 11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D8DEE8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71500" dist="228600" dir="5400000" algn="bl" rotWithShape="0">
              <a:srgbClr val="10151F">
                <a:alpha val="12156"/>
              </a:srgbClr>
            </a:outerShdw>
          </a:effectLst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85" name="Google Shape;270;p2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a926a3a4a5d404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66700" y="922734"/>
            <a:ext cx="4421237" cy="329795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1" name="Google Shape;271;p24">
            <a:extLst xmlns:a="http://schemas.openxmlformats.org/drawingml/2006/main">
              <a:ext uri="{FF2B5EF4-FFF2-40B4-BE49-F238E27FC236}">
                <a16:creationId xmlns:a16="http://schemas.microsoft.com/office/drawing/2014/main" id="{A4469836-1802-4DC0-9987-78AB01A1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915814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2" name="Google Shape;272;p24">
            <a:extLst xmlns:a="http://schemas.openxmlformats.org/drawingml/2006/main">
              <a:ext uri="{FF2B5EF4-FFF2-40B4-BE49-F238E27FC236}">
                <a16:creationId xmlns:a16="http://schemas.microsoft.com/office/drawing/2014/main" id="{F165AC62-FF93-4EE1-886C-C639009B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7587" y="829642"/>
            <a:ext cx="1455800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06 · DEMONSTRAÇÃO</a:t>
            </a:r>
          </a:p>
        </p:txBody>
      </p:sp>
      <p:sp>
        <p:nvSpPr>
          <p:cNvPr id="273" name="Google Shape;273;p24">
            <a:extLst xmlns:a="http://schemas.openxmlformats.org/drawingml/2006/main">
              <a:ext uri="{FF2B5EF4-FFF2-40B4-BE49-F238E27FC236}">
                <a16:creationId xmlns:a16="http://schemas.microsoft.com/office/drawing/2014/main" id="{67824BE1-B991-4C7E-993E-606BC1D1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1197248"/>
            <a:ext cx="3602459" cy="325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47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Interface Web</a:t>
            </a:r>
          </a:p>
        </p:txBody>
      </p:sp>
      <p:sp>
        <p:nvSpPr>
          <p:cNvPr id="274" name="Google Shape;274;p24">
            <a:extLst xmlns:a="http://schemas.openxmlformats.org/drawingml/2006/main">
              <a:ext uri="{FF2B5EF4-FFF2-40B4-BE49-F238E27FC236}">
                <a16:creationId xmlns:a16="http://schemas.microsoft.com/office/drawing/2014/main" id="{8E11ACA7-ED3D-4652-BA00-16FEA99F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1761083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5" name="Google Shape;275;p24">
            <a:extLst xmlns:a="http://schemas.openxmlformats.org/drawingml/2006/main">
              <a:ext uri="{FF2B5EF4-FFF2-40B4-BE49-F238E27FC236}">
                <a16:creationId xmlns:a16="http://schemas.microsoft.com/office/drawing/2014/main" id="{9085D04C-2B58-41EB-AE66-A1E8CE1B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437" y="1713458"/>
            <a:ext cx="2685539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Uma ação principal — Ingerir e extrair PDF — que chama ingest e extract com o mesmo arquivo.</a:t>
            </a:r>
          </a:p>
        </p:txBody>
      </p:sp>
      <p:sp>
        <p:nvSpPr>
          <p:cNvPr id="276" name="Google Shape;276;p24">
            <a:extLst xmlns:a="http://schemas.openxmlformats.org/drawingml/2006/main">
              <a:ext uri="{FF2B5EF4-FFF2-40B4-BE49-F238E27FC236}">
                <a16:creationId xmlns:a16="http://schemas.microsoft.com/office/drawing/2014/main" id="{68836028-6586-46E5-A3BB-1BFD19D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2513558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7" name="Google Shape;277;p24">
            <a:extLst xmlns:a="http://schemas.openxmlformats.org/drawingml/2006/main">
              <a:ext uri="{FF2B5EF4-FFF2-40B4-BE49-F238E27FC236}">
                <a16:creationId xmlns:a16="http://schemas.microsoft.com/office/drawing/2014/main" id="{A8EFAF71-260C-45E8-B003-5CA23006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437" y="2465933"/>
            <a:ext cx="2986914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Resultado separa campos extraídos, ausentes e inferidos, além de fontes e chunks usados.</a:t>
            </a:r>
          </a:p>
        </p:txBody>
      </p:sp>
      <p:sp>
        <p:nvSpPr>
          <p:cNvPr id="278" name="Google Shape;278;p24">
            <a:extLst xmlns:a="http://schemas.openxmlformats.org/drawingml/2006/main">
              <a:ext uri="{FF2B5EF4-FFF2-40B4-BE49-F238E27FC236}">
                <a16:creationId xmlns:a16="http://schemas.microsoft.com/office/drawing/2014/main" id="{34297EB7-124A-4427-A747-C5853198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3266033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79" name="Google Shape;279;p24">
            <a:extLst xmlns:a="http://schemas.openxmlformats.org/drawingml/2006/main">
              <a:ext uri="{FF2B5EF4-FFF2-40B4-BE49-F238E27FC236}">
                <a16:creationId xmlns:a16="http://schemas.microsoft.com/office/drawing/2014/main" id="{4E091C03-0C64-4F3E-944D-A1030335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437" y="3218408"/>
            <a:ext cx="27069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Área secundária permite consultar a base vetorial já ingerida.</a:t>
            </a:r>
          </a:p>
        </p:txBody>
      </p:sp>
      <p:sp>
        <p:nvSpPr>
          <p:cNvPr id="280" name="Google Shape;280;p24">
            <a:extLst xmlns:a="http://schemas.openxmlformats.org/drawingml/2006/main">
              <a:ext uri="{FF2B5EF4-FFF2-40B4-BE49-F238E27FC236}">
                <a16:creationId xmlns:a16="http://schemas.microsoft.com/office/drawing/2014/main" id="{C4562448-D696-44C2-B9F9-A6B65DF65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1837" y="3818483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1" name="Google Shape;281;p24">
            <a:extLst xmlns:a="http://schemas.openxmlformats.org/drawingml/2006/main">
              <a:ext uri="{FF2B5EF4-FFF2-40B4-BE49-F238E27FC236}">
                <a16:creationId xmlns:a16="http://schemas.microsoft.com/office/drawing/2014/main" id="{4D20C3A6-7367-4EF1-8577-D664264C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0437" y="3770858"/>
            <a:ext cx="2735053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Exemplo ao lado: extração rodada sobre o próprio relatório da equipe — o extrator funciona sobre qualquer PDF ou texto.</a:t>
            </a:r>
          </a:p>
        </p:txBody>
      </p:sp>
    </p:spTree>
    <p:extLst>
      <p:ext uri="{BB962C8B-B14F-4D97-AF65-F5344CB8AC3E}">
        <p14:creationId xmlns:p14="http://schemas.microsoft.com/office/powerpoint/2010/main" val="152416377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7" name="Google Shape;287;p25">
            <a:extLst xmlns:a="http://schemas.openxmlformats.org/drawingml/2006/main">
              <a:ext uri="{FF2B5EF4-FFF2-40B4-BE49-F238E27FC236}">
                <a16:creationId xmlns:a16="http://schemas.microsoft.com/office/drawing/2014/main" id="{C5D93BFB-89AC-464E-B16C-ACB7A640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88" name="Google Shape;288;p25">
            <a:extLst xmlns:a="http://schemas.openxmlformats.org/drawingml/2006/main">
              <a:ext uri="{FF2B5EF4-FFF2-40B4-BE49-F238E27FC236}">
                <a16:creationId xmlns:a16="http://schemas.microsoft.com/office/drawing/2014/main" id="{C8C3FFD4-AF49-44D4-A587-EBFD3A71A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353235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07 · EXPERIMENTOS</a:t>
            </a:r>
          </a:p>
        </p:txBody>
      </p:sp>
      <p:sp>
        <p:nvSpPr>
          <p:cNvPr id="289" name="Google Shape;289;p25">
            <a:extLst xmlns:a="http://schemas.openxmlformats.org/drawingml/2006/main">
              <a:ext uri="{FF2B5EF4-FFF2-40B4-BE49-F238E27FC236}">
                <a16:creationId xmlns:a16="http://schemas.microsoft.com/office/drawing/2014/main" id="{224373E7-DA26-403E-980B-03D899C8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Protocolo Experimental</a:t>
            </a:r>
          </a:p>
        </p:txBody>
      </p:sp>
      <p:sp>
        <p:nvSpPr>
          <p:cNvPr id="290" name="Google Shape;290;p25">
            <a:extLst xmlns:a="http://schemas.openxmlformats.org/drawingml/2006/main">
              <a:ext uri="{FF2B5EF4-FFF2-40B4-BE49-F238E27FC236}">
                <a16:creationId xmlns:a16="http://schemas.microsoft.com/office/drawing/2014/main" id="{1FD59ACE-5FD6-47EF-9417-41E8ECF1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7696"/>
            <a:ext cx="8801100" cy="2405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Benchmark: 30 textos · 2 execuções por texto · 60 respostas</a:t>
            </a:r>
          </a:p>
        </p:txBody>
      </p:sp>
      <p:sp>
        <p:nvSpPr>
          <p:cNvPr id="291" name="Google Shape;291;p25">
            <a:extLst xmlns:a="http://schemas.openxmlformats.org/drawingml/2006/main">
              <a:ext uri="{FF2B5EF4-FFF2-40B4-BE49-F238E27FC236}">
                <a16:creationId xmlns:a16="http://schemas.microsoft.com/office/drawing/2014/main" id="{52761C16-1FEC-4442-B5D7-58BD54C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3952"/>
            <a:ext cx="1478236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2" name="Google Shape;292;p25">
            <a:extLst xmlns:a="http://schemas.openxmlformats.org/drawingml/2006/main">
              <a:ext uri="{FF2B5EF4-FFF2-40B4-BE49-F238E27FC236}">
                <a16:creationId xmlns:a16="http://schemas.microsoft.com/office/drawing/2014/main" id="{C1B59AAA-46A1-479E-A172-3F5EE612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6352"/>
            <a:ext cx="1374599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293" name="Google Shape;293;p25">
            <a:extLst xmlns:a="http://schemas.openxmlformats.org/drawingml/2006/main">
              <a:ext uri="{FF2B5EF4-FFF2-40B4-BE49-F238E27FC236}">
                <a16:creationId xmlns:a16="http://schemas.microsoft.com/office/drawing/2014/main" id="{9289C28F-ED41-4D7C-9064-5100FD05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972"/>
            <a:ext cx="1374599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casos fáceis</a:t>
            </a:r>
          </a:p>
        </p:txBody>
      </p:sp>
      <p:sp>
        <p:nvSpPr>
          <p:cNvPr id="294" name="Google Shape;294;p25">
            <a:extLst xmlns:a="http://schemas.openxmlformats.org/drawingml/2006/main">
              <a:ext uri="{FF2B5EF4-FFF2-40B4-BE49-F238E27FC236}">
                <a16:creationId xmlns:a16="http://schemas.microsoft.com/office/drawing/2014/main" id="{68D87E5C-B3E5-4CD7-9D12-E0C35EE1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2135" y="1853952"/>
            <a:ext cx="1478310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5" name="Google Shape;295;p25">
            <a:extLst xmlns:a="http://schemas.openxmlformats.org/drawingml/2006/main">
              <a:ext uri="{FF2B5EF4-FFF2-40B4-BE49-F238E27FC236}">
                <a16:creationId xmlns:a16="http://schemas.microsoft.com/office/drawing/2014/main" id="{8C5D45D1-A000-40F3-9190-3A930E9F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35" y="2006352"/>
            <a:ext cx="1374681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7</a:t>
            </a:r>
          </a:p>
        </p:txBody>
      </p:sp>
      <p:sp>
        <p:nvSpPr>
          <p:cNvPr id="296" name="Google Shape;296;p25">
            <a:extLst xmlns:a="http://schemas.openxmlformats.org/drawingml/2006/main">
              <a:ext uri="{FF2B5EF4-FFF2-40B4-BE49-F238E27FC236}">
                <a16:creationId xmlns:a16="http://schemas.microsoft.com/office/drawing/2014/main" id="{2C81F684-1DBA-43BA-90B5-B596AEAF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6435" y="2514972"/>
            <a:ext cx="1374681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casos médios</a:t>
            </a:r>
          </a:p>
        </p:txBody>
      </p:sp>
      <p:sp>
        <p:nvSpPr>
          <p:cNvPr id="297" name="Google Shape;297;p25">
            <a:extLst xmlns:a="http://schemas.openxmlformats.org/drawingml/2006/main">
              <a:ext uri="{FF2B5EF4-FFF2-40B4-BE49-F238E27FC236}">
                <a16:creationId xmlns:a16="http://schemas.microsoft.com/office/drawing/2014/main" id="{D1933014-051C-4AE6-B1AB-7D809F7A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2845" y="1853952"/>
            <a:ext cx="1478235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98" name="Google Shape;298;p25">
            <a:extLst xmlns:a="http://schemas.openxmlformats.org/drawingml/2006/main">
              <a:ext uri="{FF2B5EF4-FFF2-40B4-BE49-F238E27FC236}">
                <a16:creationId xmlns:a16="http://schemas.microsoft.com/office/drawing/2014/main" id="{0AE978F4-12AE-46A3-BCA4-86589F22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45" y="2006352"/>
            <a:ext cx="1374599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299" name="Google Shape;299;p25">
            <a:extLst xmlns:a="http://schemas.openxmlformats.org/drawingml/2006/main">
              <a:ext uri="{FF2B5EF4-FFF2-40B4-BE49-F238E27FC236}">
                <a16:creationId xmlns:a16="http://schemas.microsoft.com/office/drawing/2014/main" id="{1289EF62-D6FF-4D33-B8E2-7A00325E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7145" y="2514972"/>
            <a:ext cx="1374599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casos ambíguos</a:t>
            </a:r>
          </a:p>
        </p:txBody>
      </p:sp>
      <p:sp>
        <p:nvSpPr>
          <p:cNvPr id="300" name="Google Shape;300;p25">
            <a:extLst xmlns:a="http://schemas.openxmlformats.org/drawingml/2006/main">
              <a:ext uri="{FF2B5EF4-FFF2-40B4-BE49-F238E27FC236}">
                <a16:creationId xmlns:a16="http://schemas.microsoft.com/office/drawing/2014/main" id="{570AF284-3E66-49D1-81FA-335318B2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481" y="1853952"/>
            <a:ext cx="1478310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1" name="Google Shape;301;p25">
            <a:extLst xmlns:a="http://schemas.openxmlformats.org/drawingml/2006/main">
              <a:ext uri="{FF2B5EF4-FFF2-40B4-BE49-F238E27FC236}">
                <a16:creationId xmlns:a16="http://schemas.microsoft.com/office/drawing/2014/main" id="{54D687A1-8683-4C2D-88EC-CB3CAB20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781" y="2006352"/>
            <a:ext cx="1374681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6</a:t>
            </a:r>
          </a:p>
        </p:txBody>
      </p:sp>
      <p:sp>
        <p:nvSpPr>
          <p:cNvPr id="302" name="Google Shape;302;p25">
            <a:extLst xmlns:a="http://schemas.openxmlformats.org/drawingml/2006/main">
              <a:ext uri="{FF2B5EF4-FFF2-40B4-BE49-F238E27FC236}">
                <a16:creationId xmlns:a16="http://schemas.microsoft.com/office/drawing/2014/main" id="{3A4DD5EC-3BF1-4136-A05C-C5365EDD4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781" y="2514972"/>
            <a:ext cx="1374681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base insuficiente</a:t>
            </a:r>
          </a:p>
        </p:txBody>
      </p:sp>
      <p:sp>
        <p:nvSpPr>
          <p:cNvPr id="303" name="Google Shape;303;p25">
            <a:extLst xmlns:a="http://schemas.openxmlformats.org/drawingml/2006/main">
              <a:ext uri="{FF2B5EF4-FFF2-40B4-BE49-F238E27FC236}">
                <a16:creationId xmlns:a16="http://schemas.microsoft.com/office/drawing/2014/main" id="{5FA33475-9081-4D7C-8AEC-8E434AE7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4190" y="1853952"/>
            <a:ext cx="1478235" cy="2379911"/>
          </a:xfrm>
          <a:prstGeom xmlns:a="http://schemas.openxmlformats.org/drawingml/2006/main" prst="roundRect">
            <a:avLst>
              <a:gd name="adj" fmla="val 2577"/>
            </a:avLst>
          </a:prstGeom>
          <a:solidFill xmlns:a="http://schemas.openxmlformats.org/drawingml/2006/main">
            <a:srgbClr val="23253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04" name="Google Shape;304;p25">
            <a:extLst xmlns:a="http://schemas.openxmlformats.org/drawingml/2006/main">
              <a:ext uri="{FF2B5EF4-FFF2-40B4-BE49-F238E27FC236}">
                <a16:creationId xmlns:a16="http://schemas.microsoft.com/office/drawing/2014/main" id="{D796DD71-4F07-45C0-92C6-3BE42BE8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490" y="2006352"/>
            <a:ext cx="1374599" cy="4324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76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5</a:t>
            </a:r>
          </a:p>
        </p:txBody>
      </p:sp>
      <p:sp>
        <p:nvSpPr>
          <p:cNvPr id="305" name="Google Shape;305;p25">
            <a:extLst xmlns:a="http://schemas.openxmlformats.org/drawingml/2006/main">
              <a:ext uri="{FF2B5EF4-FFF2-40B4-BE49-F238E27FC236}">
                <a16:creationId xmlns:a16="http://schemas.microsoft.com/office/drawing/2014/main" id="{61A6652D-D676-4111-9099-3C6F11FE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8490" y="2514972"/>
            <a:ext cx="1374599" cy="17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58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limites da aplicação</a:t>
            </a:r>
          </a:p>
        </p:txBody>
      </p:sp>
      <p:sp>
        <p:nvSpPr>
          <p:cNvPr id="306" name="Google Shape;306;p25">
            <a:extLst xmlns:a="http://schemas.openxmlformats.org/drawingml/2006/main">
              <a:ext uri="{FF2B5EF4-FFF2-40B4-BE49-F238E27FC236}">
                <a16:creationId xmlns:a16="http://schemas.microsoft.com/office/drawing/2014/main" id="{87EBB6B5-BDEC-4717-AE91-3994ECCD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0563"/>
            <a:ext cx="7334250" cy="204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CPMI no pgvector; textos do benchmark entram somente em /api/extract.</a:t>
            </a:r>
          </a:p>
        </p:txBody>
      </p:sp>
    </p:spTree>
    <p:extLst>
      <p:ext uri="{BB962C8B-B14F-4D97-AF65-F5344CB8AC3E}">
        <p14:creationId xmlns:p14="http://schemas.microsoft.com/office/powerpoint/2010/main" val="11690883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2" name="Google Shape;312;p26">
            <a:extLst xmlns:a="http://schemas.openxmlformats.org/drawingml/2006/main">
              <a:ext uri="{FF2B5EF4-FFF2-40B4-BE49-F238E27FC236}">
                <a16:creationId xmlns:a16="http://schemas.microsoft.com/office/drawing/2014/main" id="{BDB6F351-0C89-4075-B7F5-21E6B03E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3" name="Google Shape;313;p26">
            <a:extLst xmlns:a="http://schemas.openxmlformats.org/drawingml/2006/main">
              <a:ext uri="{FF2B5EF4-FFF2-40B4-BE49-F238E27FC236}">
                <a16:creationId xmlns:a16="http://schemas.microsoft.com/office/drawing/2014/main" id="{556E3711-F973-45BF-B552-3A5682E0D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353235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07 · EXPERIMENTOS</a:t>
            </a:r>
          </a:p>
        </p:txBody>
      </p:sp>
      <p:sp>
        <p:nvSpPr>
          <p:cNvPr id="314" name="Google Shape;314;p26">
            <a:extLst xmlns:a="http://schemas.openxmlformats.org/drawingml/2006/main">
              <a:ext uri="{FF2B5EF4-FFF2-40B4-BE49-F238E27FC236}">
                <a16:creationId xmlns:a16="http://schemas.microsoft.com/office/drawing/2014/main" id="{39E30405-AE79-4A9B-BE37-6039F6EB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Resultados Experimentais</a:t>
            </a:r>
          </a:p>
        </p:txBody>
      </p:sp>
      <p:sp>
        <p:nvSpPr>
          <p:cNvPr id="315" name="Google Shape;315;p26">
            <a:extLst xmlns:a="http://schemas.openxmlformats.org/drawingml/2006/main">
              <a:ext uri="{FF2B5EF4-FFF2-40B4-BE49-F238E27FC236}">
                <a16:creationId xmlns:a16="http://schemas.microsoft.com/office/drawing/2014/main" id="{5BFA3B4D-0D8A-486E-BC91-403358DF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7220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16" name="Google Shape;316;p26">
            <a:extLst xmlns:a="http://schemas.openxmlformats.org/drawingml/2006/main">
              <a:ext uri="{FF2B5EF4-FFF2-40B4-BE49-F238E27FC236}">
                <a16:creationId xmlns:a16="http://schemas.microsoft.com/office/drawing/2014/main" id="{0AE1A885-7B42-46DE-8459-58700C04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37246"/>
            <a:ext cx="3928342" cy="198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MÉTRICA</a:t>
            </a:r>
          </a:p>
        </p:txBody>
      </p:sp>
      <p:sp>
        <p:nvSpPr>
          <p:cNvPr id="317" name="Google Shape;317;p26">
            <a:extLst xmlns:a="http://schemas.openxmlformats.org/drawingml/2006/main">
              <a:ext uri="{FF2B5EF4-FFF2-40B4-BE49-F238E27FC236}">
                <a16:creationId xmlns:a16="http://schemas.microsoft.com/office/drawing/2014/main" id="{652FEC05-5FE5-492B-990C-448AF29C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1537246"/>
            <a:ext cx="1912463" cy="198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SÓ TEXTO · K = 0</a:t>
            </a:r>
          </a:p>
        </p:txBody>
      </p:sp>
      <p:sp>
        <p:nvSpPr>
          <p:cNvPr id="318" name="Google Shape;318;p26">
            <a:extLst xmlns:a="http://schemas.openxmlformats.org/drawingml/2006/main">
              <a:ext uri="{FF2B5EF4-FFF2-40B4-BE49-F238E27FC236}">
                <a16:creationId xmlns:a16="http://schemas.microsoft.com/office/drawing/2014/main" id="{7F6D50B6-685C-4141-889C-AAEBFC5B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1537246"/>
            <a:ext cx="2057325" cy="1985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TEXTO + CPMI · K = 5</a:t>
            </a:r>
          </a:p>
        </p:txBody>
      </p:sp>
      <p:sp>
        <p:nvSpPr>
          <p:cNvPr id="319" name="Google Shape;319;p26">
            <a:extLst xmlns:a="http://schemas.openxmlformats.org/drawingml/2006/main">
              <a:ext uri="{FF2B5EF4-FFF2-40B4-BE49-F238E27FC236}">
                <a16:creationId xmlns:a16="http://schemas.microsoft.com/office/drawing/2014/main" id="{5C16FFF8-7CFD-4610-9F41-01810BBA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5839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0" name="Google Shape;320;p26">
            <a:extLst xmlns:a="http://schemas.openxmlformats.org/drawingml/2006/main">
              <a:ext uri="{FF2B5EF4-FFF2-40B4-BE49-F238E27FC236}">
                <a16:creationId xmlns:a16="http://schemas.microsoft.com/office/drawing/2014/main" id="{7B21B9EF-049B-46DF-80BE-2AF4774C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8183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JSON/schema válido</a:t>
            </a:r>
          </a:p>
        </p:txBody>
      </p:sp>
      <p:sp>
        <p:nvSpPr>
          <p:cNvPr id="321" name="Google Shape;321;p26">
            <a:extLst xmlns:a="http://schemas.openxmlformats.org/drawingml/2006/main">
              <a:ext uri="{FF2B5EF4-FFF2-40B4-BE49-F238E27FC236}">
                <a16:creationId xmlns:a16="http://schemas.microsoft.com/office/drawing/2014/main" id="{2ED3BF3E-1BFD-4C30-8F15-0AEF1D5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1888183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30/30 · 100%</a:t>
            </a:r>
          </a:p>
        </p:txBody>
      </p:sp>
      <p:sp>
        <p:nvSpPr>
          <p:cNvPr id="322" name="Google Shape;322;p26">
            <a:extLst xmlns:a="http://schemas.openxmlformats.org/drawingml/2006/main">
              <a:ext uri="{FF2B5EF4-FFF2-40B4-BE49-F238E27FC236}">
                <a16:creationId xmlns:a16="http://schemas.microsoft.com/office/drawing/2014/main" id="{D4573D6D-B3BC-4BE2-9550-9E50EAD7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1888183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30/30 · 100%</a:t>
            </a:r>
          </a:p>
        </p:txBody>
      </p:sp>
      <p:sp>
        <p:nvSpPr>
          <p:cNvPr id="323" name="Google Shape;323;p26">
            <a:extLst xmlns:a="http://schemas.openxmlformats.org/drawingml/2006/main">
              <a:ext uri="{FF2B5EF4-FFF2-40B4-BE49-F238E27FC236}">
                <a16:creationId xmlns:a16="http://schemas.microsoft.com/office/drawing/2014/main" id="{E963C51E-D295-4F83-ACC3-8E65D0D4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64458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4" name="Google Shape;324;p26">
            <a:extLst xmlns:a="http://schemas.openxmlformats.org/drawingml/2006/main">
              <a:ext uri="{FF2B5EF4-FFF2-40B4-BE49-F238E27FC236}">
                <a16:creationId xmlns:a16="http://schemas.microsoft.com/office/drawing/2014/main" id="{443BEFF6-0BB4-4EB4-9FD3-690C27DF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801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Campos obrigatórios</a:t>
            </a:r>
          </a:p>
        </p:txBody>
      </p:sp>
      <p:sp>
        <p:nvSpPr>
          <p:cNvPr id="325" name="Google Shape;325;p26">
            <a:extLst xmlns:a="http://schemas.openxmlformats.org/drawingml/2006/main">
              <a:ext uri="{FF2B5EF4-FFF2-40B4-BE49-F238E27FC236}">
                <a16:creationId xmlns:a16="http://schemas.microsoft.com/office/drawing/2014/main" id="{291FA473-DA3F-43CE-945C-B60558DC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2266801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18/30 · 60%</a:t>
            </a:r>
          </a:p>
        </p:txBody>
      </p:sp>
      <p:sp>
        <p:nvSpPr>
          <p:cNvPr id="326" name="Google Shape;326;p26">
            <a:extLst xmlns:a="http://schemas.openxmlformats.org/drawingml/2006/main">
              <a:ext uri="{FF2B5EF4-FFF2-40B4-BE49-F238E27FC236}">
                <a16:creationId xmlns:a16="http://schemas.microsoft.com/office/drawing/2014/main" id="{69B6F1F1-51DD-4CCF-AAC0-29479080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2266801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14/30 · 46,7%</a:t>
            </a:r>
          </a:p>
        </p:txBody>
      </p:sp>
      <p:sp>
        <p:nvSpPr>
          <p:cNvPr id="327" name="Google Shape;327;p26">
            <a:extLst xmlns:a="http://schemas.openxmlformats.org/drawingml/2006/main">
              <a:ext uri="{FF2B5EF4-FFF2-40B4-BE49-F238E27FC236}">
                <a16:creationId xmlns:a16="http://schemas.microsoft.com/office/drawing/2014/main" id="{1EE3AFE7-6812-4CB7-9657-B3AFE366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076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28" name="Google Shape;328;p26">
            <a:extLst xmlns:a="http://schemas.openxmlformats.org/drawingml/2006/main">
              <a:ext uri="{FF2B5EF4-FFF2-40B4-BE49-F238E27FC236}">
                <a16:creationId xmlns:a16="http://schemas.microsoft.com/office/drawing/2014/main" id="{F9FFFC12-5CA3-4A30-A917-5E9109E3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5420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Status correto</a:t>
            </a:r>
          </a:p>
        </p:txBody>
      </p:sp>
      <p:sp>
        <p:nvSpPr>
          <p:cNvPr id="329" name="Google Shape;329;p26">
            <a:extLst xmlns:a="http://schemas.openxmlformats.org/drawingml/2006/main">
              <a:ext uri="{FF2B5EF4-FFF2-40B4-BE49-F238E27FC236}">
                <a16:creationId xmlns:a16="http://schemas.microsoft.com/office/drawing/2014/main" id="{76280938-ED9E-44DC-99C3-AEFB97CB3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2645420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24/30 · 80%</a:t>
            </a:r>
          </a:p>
        </p:txBody>
      </p:sp>
      <p:sp>
        <p:nvSpPr>
          <p:cNvPr id="330" name="Google Shape;330;p26">
            <a:extLst xmlns:a="http://schemas.openxmlformats.org/drawingml/2006/main">
              <a:ext uri="{FF2B5EF4-FFF2-40B4-BE49-F238E27FC236}">
                <a16:creationId xmlns:a16="http://schemas.microsoft.com/office/drawing/2014/main" id="{F35555D9-9CEA-4FB2-A577-BD8BF018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2645420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0A790"/>
                </a:solidFill>
                <a:latin typeface="Inter"/>
                <a:ea typeface="Inter"/>
                <a:cs typeface="Inter"/>
              </a:rPr>
              <a:t>20/30 · 66,7%</a:t>
            </a:r>
          </a:p>
        </p:txBody>
      </p:sp>
      <p:sp>
        <p:nvSpPr>
          <p:cNvPr id="331" name="Google Shape;331;p26">
            <a:extLst xmlns:a="http://schemas.openxmlformats.org/drawingml/2006/main">
              <a:ext uri="{FF2B5EF4-FFF2-40B4-BE49-F238E27FC236}">
                <a16:creationId xmlns:a16="http://schemas.microsoft.com/office/drawing/2014/main" id="{62A93D26-AA97-4B15-BF91-1D06DC25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1695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2" name="Google Shape;332;p26">
            <a:extLst xmlns:a="http://schemas.openxmlformats.org/drawingml/2006/main">
              <a:ext uri="{FF2B5EF4-FFF2-40B4-BE49-F238E27FC236}">
                <a16:creationId xmlns:a16="http://schemas.microsoft.com/office/drawing/2014/main" id="{8CB1B716-62EE-42AC-B53D-9A155E6F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4039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Valores anotados</a:t>
            </a:r>
          </a:p>
        </p:txBody>
      </p:sp>
      <p:sp>
        <p:nvSpPr>
          <p:cNvPr id="333" name="Google Shape;333;p26">
            <a:extLst xmlns:a="http://schemas.openxmlformats.org/drawingml/2006/main">
              <a:ext uri="{FF2B5EF4-FFF2-40B4-BE49-F238E27FC236}">
                <a16:creationId xmlns:a16="http://schemas.microsoft.com/office/drawing/2014/main" id="{FB165D59-8E03-4FDC-80EB-9616DB35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3024039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148/206 · 71,8%</a:t>
            </a:r>
          </a:p>
        </p:txBody>
      </p:sp>
      <p:sp>
        <p:nvSpPr>
          <p:cNvPr id="334" name="Google Shape;334;p26">
            <a:extLst xmlns:a="http://schemas.openxmlformats.org/drawingml/2006/main">
              <a:ext uri="{FF2B5EF4-FFF2-40B4-BE49-F238E27FC236}">
                <a16:creationId xmlns:a16="http://schemas.microsoft.com/office/drawing/2014/main" id="{972C565B-7CA7-4AAE-9038-4EBF21A3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3024039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112/206 · 54,4%</a:t>
            </a:r>
          </a:p>
        </p:txBody>
      </p:sp>
      <p:sp>
        <p:nvSpPr>
          <p:cNvPr id="335" name="Google Shape;335;p26">
            <a:extLst xmlns:a="http://schemas.openxmlformats.org/drawingml/2006/main">
              <a:ext uri="{FF2B5EF4-FFF2-40B4-BE49-F238E27FC236}">
                <a16:creationId xmlns:a16="http://schemas.microsoft.com/office/drawing/2014/main" id="{027660C8-94E1-433C-9EE4-09BEA3C7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00314"/>
            <a:ext cx="800100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C">
              <a:alpha val="16078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6" name="Google Shape;336;p26">
            <a:extLst xmlns:a="http://schemas.openxmlformats.org/drawingml/2006/main">
              <a:ext uri="{FF2B5EF4-FFF2-40B4-BE49-F238E27FC236}">
                <a16:creationId xmlns:a16="http://schemas.microsoft.com/office/drawing/2014/main" id="{C6267E43-FA94-4CEA-9D74-AB2A6307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2657"/>
            <a:ext cx="3928342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Latência média</a:t>
            </a:r>
          </a:p>
        </p:txBody>
      </p:sp>
      <p:sp>
        <p:nvSpPr>
          <p:cNvPr id="337" name="Google Shape;337;p26">
            <a:extLst xmlns:a="http://schemas.openxmlformats.org/drawingml/2006/main">
              <a:ext uri="{FF2B5EF4-FFF2-40B4-BE49-F238E27FC236}">
                <a16:creationId xmlns:a16="http://schemas.microsoft.com/office/drawing/2014/main" id="{3558F0FE-208E-4E20-BAC9-3F03DC1B9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3402657"/>
            <a:ext cx="1912463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18,86 s</a:t>
            </a:r>
          </a:p>
        </p:txBody>
      </p:sp>
      <p:sp>
        <p:nvSpPr>
          <p:cNvPr id="338" name="Google Shape;338;p26">
            <a:extLst xmlns:a="http://schemas.openxmlformats.org/drawingml/2006/main">
              <a:ext uri="{FF2B5EF4-FFF2-40B4-BE49-F238E27FC236}">
                <a16:creationId xmlns:a16="http://schemas.microsoft.com/office/drawing/2014/main" id="{BB01F659-51AC-4480-A62E-8A6389E1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3402657"/>
            <a:ext cx="2057325" cy="2452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68,78 s</a:t>
            </a:r>
          </a:p>
        </p:txBody>
      </p:sp>
      <p:sp>
        <p:nvSpPr>
          <p:cNvPr id="339" name="Google Shape;339;p26">
            <a:extLst xmlns:a="http://schemas.openxmlformats.org/drawingml/2006/main">
              <a:ext uri="{FF2B5EF4-FFF2-40B4-BE49-F238E27FC236}">
                <a16:creationId xmlns:a16="http://schemas.microsoft.com/office/drawing/2014/main" id="{CC6409EF-087F-46B5-85C0-3B4EF9FA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326"/>
            <a:ext cx="3928342" cy="27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916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Falsos valid (6 casos)</a:t>
            </a:r>
          </a:p>
        </p:txBody>
      </p:sp>
      <p:sp>
        <p:nvSpPr>
          <p:cNvPr id="340" name="Google Shape;340;p26">
            <a:extLst xmlns:a="http://schemas.openxmlformats.org/drawingml/2006/main">
              <a:ext uri="{FF2B5EF4-FFF2-40B4-BE49-F238E27FC236}">
                <a16:creationId xmlns:a16="http://schemas.microsoft.com/office/drawing/2014/main" id="{0699E55B-8632-49A1-8AE1-45BADF79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030" y="3800326"/>
            <a:ext cx="1912463" cy="27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0/6</a:t>
            </a:r>
          </a:p>
        </p:txBody>
      </p:sp>
      <p:sp>
        <p:nvSpPr>
          <p:cNvPr id="341" name="Google Shape;341;p26">
            <a:extLst xmlns:a="http://schemas.openxmlformats.org/drawingml/2006/main">
              <a:ext uri="{FF2B5EF4-FFF2-40B4-BE49-F238E27FC236}">
                <a16:creationId xmlns:a16="http://schemas.microsoft.com/office/drawing/2014/main" id="{E35CDA7C-E8B4-4CCD-BE46-37D29218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651" y="3800326"/>
            <a:ext cx="2057325" cy="2723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28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0/6</a:t>
            </a:r>
          </a:p>
        </p:txBody>
      </p:sp>
      <p:sp>
        <p:nvSpPr>
          <p:cNvPr id="342" name="Google Shape;342;p26">
            <a:extLst xmlns:a="http://schemas.openxmlformats.org/drawingml/2006/main">
              <a:ext uri="{FF2B5EF4-FFF2-40B4-BE49-F238E27FC236}">
                <a16:creationId xmlns:a16="http://schemas.microsoft.com/office/drawing/2014/main" id="{B6B0ED99-4CD6-4AA5-B4FD-70B81163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1282"/>
            <a:ext cx="7358063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Mede a extração dos 30 textos; não mede perguntas respondidas sobre a CPMI.</a:t>
            </a:r>
          </a:p>
        </p:txBody>
      </p:sp>
    </p:spTree>
    <p:extLst>
      <p:ext uri="{BB962C8B-B14F-4D97-AF65-F5344CB8AC3E}">
        <p14:creationId xmlns:p14="http://schemas.microsoft.com/office/powerpoint/2010/main" val="10992516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8" name="Google Shape;348;p27">
            <a:extLst xmlns:a="http://schemas.openxmlformats.org/drawingml/2006/main">
              <a:ext uri="{FF2B5EF4-FFF2-40B4-BE49-F238E27FC236}">
                <a16:creationId xmlns:a16="http://schemas.microsoft.com/office/drawing/2014/main" id="{0A5AF06F-0F5F-4FB6-A56E-043CA50D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9" name="Google Shape;349;p27">
            <a:extLst xmlns:a="http://schemas.openxmlformats.org/drawingml/2006/main">
              <a:ext uri="{FF2B5EF4-FFF2-40B4-BE49-F238E27FC236}">
                <a16:creationId xmlns:a16="http://schemas.microsoft.com/office/drawing/2014/main" id="{55FDDA6B-37B0-46F4-976F-F2CD9782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852197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08 · CRÍTICA</a:t>
            </a:r>
          </a:p>
        </p:txBody>
      </p:sp>
      <p:sp>
        <p:nvSpPr>
          <p:cNvPr id="350" name="Google Shape;350;p27">
            <a:extLst xmlns:a="http://schemas.openxmlformats.org/drawingml/2006/main">
              <a:ext uri="{FF2B5EF4-FFF2-40B4-BE49-F238E27FC236}">
                <a16:creationId xmlns:a16="http://schemas.microsoft.com/office/drawing/2014/main" id="{93F90CEC-354A-4F49-91CD-F1E7A32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10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Análise Crítica</a:t>
            </a:r>
          </a:p>
        </p:txBody>
      </p:sp>
      <p:sp>
        <p:nvSpPr>
          <p:cNvPr id="351" name="Google Shape;351;p27">
            <a:extLst xmlns:a="http://schemas.openxmlformats.org/drawingml/2006/main">
              <a:ext uri="{FF2B5EF4-FFF2-40B4-BE49-F238E27FC236}">
                <a16:creationId xmlns:a16="http://schemas.microsoft.com/office/drawing/2014/main" id="{8995DEF9-DD5B-45AE-8616-667F04DF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94395"/>
            <a:ext cx="4149090" cy="189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D2CEFD"/>
                </a:solidFill>
                <a:latin typeface="Inter"/>
                <a:ea typeface="Inter"/>
                <a:cs typeface="Inter"/>
              </a:rPr>
              <a:t>O que funcionou</a:t>
            </a:r>
          </a:p>
        </p:txBody>
      </p:sp>
      <p:sp>
        <p:nvSpPr>
          <p:cNvPr id="352" name="Google Shape;352;p27">
            <a:extLst xmlns:a="http://schemas.openxmlformats.org/drawingml/2006/main">
              <a:ext uri="{FF2B5EF4-FFF2-40B4-BE49-F238E27FC236}">
                <a16:creationId xmlns:a16="http://schemas.microsoft.com/office/drawing/2014/main" id="{BA5BEE97-A8A8-4C2F-89A0-FC5F3B7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8410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3" name="Google Shape;353;p27">
            <a:extLst xmlns:a="http://schemas.openxmlformats.org/drawingml/2006/main">
              <a:ext uri="{FF2B5EF4-FFF2-40B4-BE49-F238E27FC236}">
                <a16:creationId xmlns:a16="http://schemas.microsoft.com/office/drawing/2014/main" id="{2B62EAD0-BD41-4F1F-8C96-6191088F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36477"/>
            <a:ext cx="297917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30/30 em cada versão tiveram schema válido; isso mede formato, não acerto.</a:t>
            </a:r>
          </a:p>
        </p:txBody>
      </p:sp>
      <p:sp>
        <p:nvSpPr>
          <p:cNvPr id="354" name="Google Shape;354;p27">
            <a:extLst xmlns:a="http://schemas.openxmlformats.org/drawingml/2006/main">
              <a:ext uri="{FF2B5EF4-FFF2-40B4-BE49-F238E27FC236}">
                <a16:creationId xmlns:a16="http://schemas.microsoft.com/office/drawing/2014/main" id="{7C0FB13C-FFB9-4FE7-AE8A-DE8F3898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655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5" name="Google Shape;355;p27">
            <a:extLst xmlns:a="http://schemas.openxmlformats.org/drawingml/2006/main">
              <a:ext uri="{FF2B5EF4-FFF2-40B4-BE49-F238E27FC236}">
                <a16:creationId xmlns:a16="http://schemas.microsoft.com/office/drawing/2014/main" id="{634E70B8-12C7-483F-852B-8E021D5A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88927"/>
            <a:ext cx="3456833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0/6 falsos valid nos casos de informação insuficiente.</a:t>
            </a:r>
          </a:p>
        </p:txBody>
      </p:sp>
      <p:sp>
        <p:nvSpPr>
          <p:cNvPr id="356" name="Google Shape;356;p27">
            <a:extLst xmlns:a="http://schemas.openxmlformats.org/drawingml/2006/main">
              <a:ext uri="{FF2B5EF4-FFF2-40B4-BE49-F238E27FC236}">
                <a16:creationId xmlns:a16="http://schemas.microsoft.com/office/drawing/2014/main" id="{F2AAFB16-9DFA-4450-B64E-AF9CA342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8900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7" name="Google Shape;357;p27">
            <a:extLst xmlns:a="http://schemas.openxmlformats.org/drawingml/2006/main">
              <a:ext uri="{FF2B5EF4-FFF2-40B4-BE49-F238E27FC236}">
                <a16:creationId xmlns:a16="http://schemas.microsoft.com/office/drawing/2014/main" id="{3A1A381C-F8FB-4889-A8F4-4E892087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1377"/>
            <a:ext cx="3575099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Campos completos: 18/30 só com texto; 14/30 com chunks da CPMI.</a:t>
            </a:r>
          </a:p>
        </p:txBody>
      </p:sp>
      <p:sp>
        <p:nvSpPr>
          <p:cNvPr id="358" name="Google Shape;358;p27">
            <a:extLst xmlns:a="http://schemas.openxmlformats.org/drawingml/2006/main">
              <a:ext uri="{FF2B5EF4-FFF2-40B4-BE49-F238E27FC236}">
                <a16:creationId xmlns:a16="http://schemas.microsoft.com/office/drawing/2014/main" id="{90A32E6A-A8BB-4085-AA51-C3B58FC0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94395"/>
            <a:ext cx="4149090" cy="189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0A790"/>
                </a:solidFill>
                <a:latin typeface="Inter"/>
                <a:ea typeface="Inter"/>
                <a:cs typeface="Inter"/>
              </a:rPr>
              <a:t>Limitações e falhas</a:t>
            </a:r>
          </a:p>
        </p:txBody>
      </p:sp>
      <p:sp>
        <p:nvSpPr>
          <p:cNvPr id="359" name="Google Shape;359;p27">
            <a:extLst xmlns:a="http://schemas.openxmlformats.org/drawingml/2006/main">
              <a:ext uri="{FF2B5EF4-FFF2-40B4-BE49-F238E27FC236}">
                <a16:creationId xmlns:a16="http://schemas.microsoft.com/office/drawing/2014/main" id="{86254974-5258-4CE4-AAD6-FB5F4D6D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8410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7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0" name="Google Shape;360;p27">
            <a:extLst xmlns:a="http://schemas.openxmlformats.org/drawingml/2006/main">
              <a:ext uri="{FF2B5EF4-FFF2-40B4-BE49-F238E27FC236}">
                <a16:creationId xmlns:a16="http://schemas.microsoft.com/office/drawing/2014/main" id="{2684F0FF-D7F8-4591-9D57-9F3834194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36477"/>
            <a:ext cx="3429624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Contexto da CPMI fora do domínio reduziu a cobertura: 71,8% → 54,4%.</a:t>
            </a:r>
          </a:p>
        </p:txBody>
      </p:sp>
      <p:sp>
        <p:nvSpPr>
          <p:cNvPr id="361" name="Google Shape;361;p27">
            <a:extLst xmlns:a="http://schemas.openxmlformats.org/drawingml/2006/main">
              <a:ext uri="{FF2B5EF4-FFF2-40B4-BE49-F238E27FC236}">
                <a16:creationId xmlns:a16="http://schemas.microsoft.com/office/drawing/2014/main" id="{04EB204F-588D-4113-9D97-EC8D3AAE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655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7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2" name="Google Shape;362;p27">
            <a:extLst xmlns:a="http://schemas.openxmlformats.org/drawingml/2006/main">
              <a:ext uri="{FF2B5EF4-FFF2-40B4-BE49-F238E27FC236}">
                <a16:creationId xmlns:a16="http://schemas.microsoft.com/office/drawing/2014/main" id="{E0B3FA9E-4187-4D02-82C3-097FE244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88927"/>
            <a:ext cx="347063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RAG elevou a latência média de 18,86 s para 68,78 s.</a:t>
            </a:r>
          </a:p>
        </p:txBody>
      </p:sp>
      <p:sp>
        <p:nvSpPr>
          <p:cNvPr id="363" name="Google Shape;363;p27">
            <a:extLst xmlns:a="http://schemas.openxmlformats.org/drawingml/2006/main">
              <a:ext uri="{FF2B5EF4-FFF2-40B4-BE49-F238E27FC236}">
                <a16:creationId xmlns:a16="http://schemas.microsoft.com/office/drawing/2014/main" id="{B8164CED-5940-496F-ACB6-678FF0CF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9002"/>
            <a:ext cx="10477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A79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64" name="Google Shape;364;p27">
            <a:extLst xmlns:a="http://schemas.openxmlformats.org/drawingml/2006/main">
              <a:ext uri="{FF2B5EF4-FFF2-40B4-BE49-F238E27FC236}">
                <a16:creationId xmlns:a16="http://schemas.microsoft.com/office/drawing/2014/main" id="{BB2E7EC9-C1FE-462F-A2E3-5D3E92B6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41377"/>
            <a:ext cx="345468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Cobertura mede recall; valores adicionais ainda exigem revisão.</a:t>
            </a:r>
          </a:p>
        </p:txBody>
      </p:sp>
    </p:spTree>
    <p:extLst>
      <p:ext uri="{BB962C8B-B14F-4D97-AF65-F5344CB8AC3E}">
        <p14:creationId xmlns:p14="http://schemas.microsoft.com/office/powerpoint/2010/main" val="15681545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618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0" name="Google Shape;370;p28">
            <a:extLst xmlns:a="http://schemas.openxmlformats.org/drawingml/2006/main">
              <a:ext uri="{FF2B5EF4-FFF2-40B4-BE49-F238E27FC236}">
                <a16:creationId xmlns:a16="http://schemas.microsoft.com/office/drawing/2014/main" id="{44AB1BC4-D8CE-4C15-9301-B01EDCA3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472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1" name="Google Shape;371;p28">
            <a:extLst xmlns:a="http://schemas.openxmlformats.org/drawingml/2006/main">
              <a:ext uri="{FF2B5EF4-FFF2-40B4-BE49-F238E27FC236}">
                <a16:creationId xmlns:a16="http://schemas.microsoft.com/office/drawing/2014/main" id="{93F5D04C-411A-4334-B583-DB156209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"/>
            <a:ext cx="1256645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09 · FECHAMENTO</a:t>
            </a:r>
          </a:p>
        </p:txBody>
      </p:sp>
      <p:sp>
        <p:nvSpPr>
          <p:cNvPr id="372" name="Google Shape;372;p28">
            <a:extLst xmlns:a="http://schemas.openxmlformats.org/drawingml/2006/main">
              <a:ext uri="{FF2B5EF4-FFF2-40B4-BE49-F238E27FC236}">
                <a16:creationId xmlns:a16="http://schemas.microsoft.com/office/drawing/2014/main" id="{E53E04AA-E18E-450F-96DE-D3602EB1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77206"/>
            <a:ext cx="8801100" cy="3695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5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Conclusão</a:t>
            </a:r>
          </a:p>
        </p:txBody>
      </p:sp>
      <p:sp>
        <p:nvSpPr>
          <p:cNvPr id="373" name="Google Shape;373;p28">
            <a:extLst xmlns:a="http://schemas.openxmlformats.org/drawingml/2006/main">
              <a:ext uri="{FF2B5EF4-FFF2-40B4-BE49-F238E27FC236}">
                <a16:creationId xmlns:a16="http://schemas.microsoft.com/office/drawing/2014/main" id="{6A22F6D5-6C9D-4584-BB0C-68388FF0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6321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4" name="Google Shape;374;p28">
            <a:extLst xmlns:a="http://schemas.openxmlformats.org/drawingml/2006/main">
              <a:ext uri="{FF2B5EF4-FFF2-40B4-BE49-F238E27FC236}">
                <a16:creationId xmlns:a16="http://schemas.microsoft.com/office/drawing/2014/main" id="{04ABBFBD-23CB-4F55-80E7-9172C208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4408"/>
            <a:ext cx="580183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Entrega completa: LLM, ingestão, pgvector, RAG, extração estruturada e validação com proveniência.</a:t>
            </a:r>
          </a:p>
        </p:txBody>
      </p:sp>
      <p:sp>
        <p:nvSpPr>
          <p:cNvPr id="375" name="Google Shape;375;p28">
            <a:extLst xmlns:a="http://schemas.openxmlformats.org/drawingml/2006/main">
              <a:ext uri="{FF2B5EF4-FFF2-40B4-BE49-F238E27FC236}">
                <a16:creationId xmlns:a16="http://schemas.microsoft.com/office/drawing/2014/main" id="{0763CEE5-CE19-4025-91A2-9C030A5F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1646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6" name="Google Shape;376;p28">
            <a:extLst xmlns:a="http://schemas.openxmlformats.org/drawingml/2006/main">
              <a:ext uri="{FF2B5EF4-FFF2-40B4-BE49-F238E27FC236}">
                <a16:creationId xmlns:a16="http://schemas.microsoft.com/office/drawing/2014/main" id="{79117755-0B77-46F7-A685-D8830246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9733"/>
            <a:ext cx="639063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No benchmark, a CPMI foi contexto externo fora do domínio; o resultado não se aplica a todo uso de RAG.</a:t>
            </a:r>
          </a:p>
        </p:txBody>
      </p:sp>
      <p:sp>
        <p:nvSpPr>
          <p:cNvPr id="377" name="Google Shape;377;p28">
            <a:extLst xmlns:a="http://schemas.openxmlformats.org/drawingml/2006/main">
              <a:ext uri="{FF2B5EF4-FFF2-40B4-BE49-F238E27FC236}">
                <a16:creationId xmlns:a16="http://schemas.microsoft.com/office/drawing/2014/main" id="{F419837B-7DE3-4780-824C-D01BD609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6971"/>
            <a:ext cx="123825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78" name="Google Shape;378;p28">
            <a:extLst xmlns:a="http://schemas.openxmlformats.org/drawingml/2006/main">
              <a:ext uri="{FF2B5EF4-FFF2-40B4-BE49-F238E27FC236}">
                <a16:creationId xmlns:a16="http://schemas.microsoft.com/office/drawing/2014/main" id="{54A36805-FAC4-4CC7-9ACF-E0BFCEA8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5058"/>
            <a:ext cx="649502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E4E7F5"/>
                </a:solidFill>
                <a:latin typeface="Inter"/>
                <a:ea typeface="Inter"/>
                <a:cs typeface="Inter"/>
              </a:rPr>
              <a:t>Próximo passo: coleções do mesmo domínio, limiar de similaridade e métrica de precisão.</a:t>
            </a:r>
          </a:p>
        </p:txBody>
      </p:sp>
    </p:spTree>
    <p:extLst>
      <p:ext uri="{BB962C8B-B14F-4D97-AF65-F5344CB8AC3E}">
        <p14:creationId xmlns:p14="http://schemas.microsoft.com/office/powerpoint/2010/main" val="7021213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62A6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4" name="Google Shape;384;p29">
            <a:extLst xmlns:a="http://schemas.openxmlformats.org/drawingml/2006/main">
              <a:ext uri="{FF2B5EF4-FFF2-40B4-BE49-F238E27FC236}">
                <a16:creationId xmlns:a16="http://schemas.microsoft.com/office/drawing/2014/main" id="{BAF3F66D-E297-43B1-9559-1EA4005D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500"/>
            <a:ext cx="209550" cy="47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84D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25" tIns="45725" rIns="45725" bIns="457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85" name="Google Shape;385;p29">
            <a:extLst xmlns:a="http://schemas.openxmlformats.org/drawingml/2006/main">
              <a:ext uri="{FF2B5EF4-FFF2-40B4-BE49-F238E27FC236}">
                <a16:creationId xmlns:a16="http://schemas.microsoft.com/office/drawing/2014/main" id="{F9887CA9-9F04-4108-A0E7-88B93D28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90328"/>
            <a:ext cx="1519647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184D9"/>
                </a:solidFill>
                <a:latin typeface="Inter"/>
                <a:ea typeface="Inter"/>
                <a:cs typeface="Inter"/>
              </a:rPr>
              <a:t>EQUIPE 4 · PROJETO 2</a:t>
            </a:r>
          </a:p>
        </p:txBody>
      </p:sp>
      <p:sp>
        <p:nvSpPr>
          <p:cNvPr id="386" name="Google Shape;386;p29">
            <a:extLst xmlns:a="http://schemas.openxmlformats.org/drawingml/2006/main">
              <a:ext uri="{FF2B5EF4-FFF2-40B4-BE49-F238E27FC236}">
                <a16:creationId xmlns:a16="http://schemas.microsoft.com/office/drawing/2014/main" id="{DC4C4863-0030-4B25-92E7-954AB0B2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6034"/>
            <a:ext cx="8801100" cy="521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1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 b="0" i="0" u="none" cap="none">
                <a:solidFill>
                  <a:srgbClr val="E9E9ED"/>
                </a:solidFill>
                <a:latin typeface="Inter"/>
                <a:ea typeface="Inter"/>
                <a:cs typeface="Inter"/>
              </a:rPr>
              <a:t>Perguntas?</a:t>
            </a:r>
          </a:p>
        </p:txBody>
      </p:sp>
      <p:sp>
        <p:nvSpPr>
          <p:cNvPr id="387" name="Google Shape;387;p29">
            <a:extLst xmlns:a="http://schemas.openxmlformats.org/drawingml/2006/main">
              <a:ext uri="{FF2B5EF4-FFF2-40B4-BE49-F238E27FC236}">
                <a16:creationId xmlns:a16="http://schemas.microsoft.com/office/drawing/2014/main" id="{FFDD5078-488D-46B2-97D5-9077F1A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89424"/>
            <a:ext cx="6376988" cy="5208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5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 u="none" cap="none">
                <a:solidFill>
                  <a:srgbClr val="CFD3E5"/>
                </a:solidFill>
                <a:latin typeface="Inter"/>
                <a:ea typeface="Inter"/>
                <a:cs typeface="Inter"/>
              </a:rPr>
              <a:t>Extrator Estruturado com LLM, RAG e Validação — relatório, código e slides disponíveis para consulta.</a:t>
            </a:r>
          </a:p>
        </p:txBody>
      </p:sp>
      <p:sp>
        <p:nvSpPr>
          <p:cNvPr id="388" name="Google Shape;388;p29">
            <a:extLst xmlns:a="http://schemas.openxmlformats.org/drawingml/2006/main">
              <a:ext uri="{FF2B5EF4-FFF2-40B4-BE49-F238E27FC236}">
                <a16:creationId xmlns:a16="http://schemas.microsoft.com/office/drawing/2014/main" id="{451E6690-CE99-40DA-ACFA-E62688D9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09195"/>
            <a:ext cx="3729663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Brunna Moura · Carlos Cruz · Rafael Queiroz · Victor Bitencourt</a:t>
            </a:r>
          </a:p>
        </p:txBody>
      </p:sp>
      <p:sp>
        <p:nvSpPr>
          <p:cNvPr id="389" name="Google Shape;389;p29">
            <a:extLst xmlns:a="http://schemas.openxmlformats.org/drawingml/2006/main">
              <a:ext uri="{FF2B5EF4-FFF2-40B4-BE49-F238E27FC236}">
                <a16:creationId xmlns:a16="http://schemas.microsoft.com/office/drawing/2014/main" id="{6FC1DAB9-3E1C-4A29-9A50-FB968630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9381" y="4509195"/>
            <a:ext cx="1125431" cy="1961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700" tIns="12700" rIns="12700" bIns="1270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82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B2B6CA"/>
                </a:solidFill>
                <a:latin typeface="Inter"/>
                <a:ea typeface="Inter"/>
                <a:cs typeface="Inter"/>
              </a:rPr>
              <a:t>UNEB · Julho 2026</a:t>
            </a:r>
          </a:p>
        </p:txBody>
      </p:sp>
    </p:spTree>
    <p:extLst>
      <p:ext uri="{BB962C8B-B14F-4D97-AF65-F5344CB8AC3E}">
        <p14:creationId xmlns:p14="http://schemas.microsoft.com/office/powerpoint/2010/main" val="438082269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2026-07-13T21:25:05.4640000Z</dcterms:created>
  <dcterms:modified xsi:type="dcterms:W3CDTF">2026-07-13T21:25:05.4640000Z</dcterms:modified>
</coreProperties>
</file>