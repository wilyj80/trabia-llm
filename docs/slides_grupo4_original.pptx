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nt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1" Type="http://schemas.openxmlformats.org/officeDocument/2006/relationships/slide" Target="slides/slide15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e6721834_4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e6721834_4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5" name="Google Shape;55;g3f4e6721834_4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4e6721834_6_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4e6721834_6_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6" name="Google Shape;66;g3f4e6721834_6_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4e6721834_4_3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4e6721834_4_3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0" name="Google Shape;80;g3f4e6721834_4_3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4e6721834_4_4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4e6721834_4_4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" name="Google Shape;98;g3f4e6721834_4_4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4e6721834_4_8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f4e6721834_4_8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4" name="Google Shape;134;g3f4e6721834_4_8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e6721834_4_10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f4e6721834_4_10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4" name="Google Shape;154;g3f4e6721834_4_10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4e6721834_4_12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f4e6721834_4_12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81" name="Google Shape;181;g3f4e6721834_4_12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e6721834_4_15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f4e6721834_4_15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10" name="Google Shape;210;g3f4e6721834_4_15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4e6721834_4_17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f4e6721834_4_17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35" name="Google Shape;235;g3f4e6721834_4_17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4e6721834_4_20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f4e6721834_4_20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66" name="Google Shape;266;g3f4e6721834_4_20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4e6721834_4_22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4e6721834_4_22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85" name="Google Shape;285;g3f4e6721834_4_22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4e6721834_4_25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f4e6721834_4_25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10" name="Google Shape;310;g3f4e6721834_4_25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4e6721834_4_28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f4e6721834_4_28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46" name="Google Shape;346;g3f4e6721834_4_28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4e6721834_4_30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f4e6721834_4_30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68" name="Google Shape;368;g3f4e6721834_4_30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4e6721834_4_32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f4e6721834_4_32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2" name="Google Shape;382;g3f4e6721834_4_32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71500" y="5433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857250" y="457200"/>
            <a:ext cx="2746006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TRABALHO 3 · INTELIGENCIA ARTIFICIAL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71500" y="1611288"/>
            <a:ext cx="7358063" cy="10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9379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3600"/>
              <a:buFont typeface="Inter"/>
              <a:buNone/>
            </a:pPr>
            <a:r>
              <a:rPr b="0" i="0" lang="pt-BR" sz="36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Extrator Estruturado com LLM, RAG e Validação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71500" y="2770213"/>
            <a:ext cx="4208659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500"/>
              <a:buFont typeface="Inter"/>
              <a:buNone/>
            </a:pPr>
            <a:r>
              <a:rPr b="0" i="0" lang="pt-BR" sz="15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Projeto 2 — extrator genérico com LLM, RAG e validação em camadas, aplicável a qualquer PDF ou texto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4509195"/>
            <a:ext cx="372966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Brunna Moura · Carlos Cruz · Rafael Queiroz · Victor Bitencourt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975648" y="4509195"/>
            <a:ext cx="175653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Equipe 4 · UNEB · Julho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857250" y="495300"/>
            <a:ext cx="1022129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01 · PROBLEMA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571500" y="9772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Definição do Problema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71500" y="176584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838200" y="1694408"/>
            <a:ext cx="570679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400"/>
              <a:buFont typeface="Inter"/>
              <a:buNone/>
            </a:pPr>
            <a:r>
              <a:rPr b="0" i="0" lang="pt-BR" sz="14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Uma aplicação </a:t>
            </a:r>
            <a:r>
              <a:rPr lang="pt-BR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b="0" i="0" lang="pt-BR" sz="14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 recebe qualquer PDF ou texto bruto — editais, notícias, relatórios, documentos administrativos — e devolve campos estruturados e validados, no lugar de texto livre.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71500" y="2746921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838200" y="2675483"/>
            <a:ext cx="58853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400"/>
              <a:buFont typeface="Inter"/>
              <a:buNone/>
            </a:pPr>
            <a:r>
              <a:rPr b="0" i="0" lang="pt-BR" sz="14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RAG entra como apoio: ingestão, embeddings e recuperação ajudam a normalizar, classificar e checar a extração.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71500" y="3470821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838200" y="3399383"/>
            <a:ext cx="605484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400"/>
              <a:buFont typeface="Inter"/>
              <a:buNone/>
            </a:pPr>
            <a:r>
              <a:rPr b="0" i="0" lang="pt-BR" sz="14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A extração estruturada continua sendo a tarefa principal — o RAG nunca vira resposta livre sem validação.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857250" y="495300"/>
            <a:ext cx="779182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02 · DADOS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71500" y="9772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Base Documental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71500" y="1441995"/>
            <a:ext cx="6867525" cy="4323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A extração funciona sobre qualquer documento enviado no momento — esta base é o conhecimento externo que o RAG usa como apoio, para normalizar, classificar e checar o que foi extraído.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71500" y="235639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838200" y="2299246"/>
            <a:ext cx="407560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Relatório da CPMI dos atos de 8 de janeiro de 2023: linguagem institucional, depoimentos, órgãos públicos, pessoas, datas e fatos distribuídos em várias seções.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571500" y="323269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838200" y="3175546"/>
            <a:ext cx="3932501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Volume justifica ingestão, vetorização e recuperação semântica real — não um chat direto sobre o texto.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71500" y="388039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838200" y="3823246"/>
            <a:ext cx="391058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Domínio favorece dois testes: localizar trechos e citar páginas (RAG), e identificar tipo, atores, datas e fatos (extração).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5554936" y="2662610"/>
            <a:ext cx="3017564" cy="1444898"/>
          </a:xfrm>
          <a:prstGeom prst="roundRect">
            <a:avLst>
              <a:gd fmla="val 4615" name="adj"/>
            </a:avLst>
          </a:prstGeom>
          <a:solidFill>
            <a:srgbClr val="232532"/>
          </a:solidFill>
          <a:ln>
            <a:noFill/>
          </a:ln>
          <a:effectLst>
            <a:outerShdw blurRad="101600" rotWithShape="0" algn="bl" dir="16200000" dist="50800">
              <a:srgbClr val="595D6C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5783536" y="2929310"/>
            <a:ext cx="1710534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5000"/>
              <a:buFont typeface="Inter"/>
              <a:buNone/>
            </a:pPr>
            <a:r>
              <a:rPr b="0" i="0" lang="pt-BR" sz="50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1.333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783536" y="3634160"/>
            <a:ext cx="1851735" cy="2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páginas · ~2,1M caracteres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857250" y="495300"/>
            <a:ext cx="1274899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03 · ARQUITETURA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Arquitetura da Solução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71500" y="1327696"/>
            <a:ext cx="880110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Hexagonal — portas e adaptadores (Python 3.12 + FastAPI)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3631630" y="1815852"/>
            <a:ext cx="1880741" cy="450056"/>
          </a:xfrm>
          <a:prstGeom prst="roundRect">
            <a:avLst>
              <a:gd fmla="val 8466" name="adj"/>
            </a:avLst>
          </a:prstGeom>
          <a:solidFill>
            <a:srgbClr val="232532"/>
          </a:solidFill>
          <a:ln>
            <a:noFill/>
          </a:ln>
          <a:effectLst>
            <a:outerShdw blurRad="101600" rotWithShape="0" algn="bl" dir="16200000" dist="50800">
              <a:srgbClr val="595D6C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3898330" y="1930152"/>
            <a:ext cx="1403763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highlight>
                  <a:srgbClr val="232532"/>
                </a:highlight>
                <a:latin typeface="Inter"/>
                <a:ea typeface="Inter"/>
                <a:cs typeface="Inter"/>
                <a:sym typeface="Inter"/>
              </a:rPr>
              <a:t>FastAPI App · </a:t>
            </a: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src/api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569619" y="2265908"/>
            <a:ext cx="4763" cy="190500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3123382" y="2456408"/>
            <a:ext cx="2897237" cy="450056"/>
          </a:xfrm>
          <a:prstGeom prst="roundRect">
            <a:avLst>
              <a:gd fmla="val 8466" name="adj"/>
            </a:avLst>
          </a:prstGeom>
          <a:solidFill>
            <a:srgbClr val="423A6A"/>
          </a:solidFill>
          <a:ln>
            <a:noFill/>
          </a:ln>
          <a:effectLst>
            <a:outerShdw blurRad="101600" rotWithShape="0" algn="bl" dir="16200000" dist="50800">
              <a:srgbClr val="595D6C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3390082" y="2570708"/>
            <a:ext cx="2450754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F5F4FF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F5F4FF"/>
                </a:solidFill>
                <a:highlight>
                  <a:srgbClr val="423A6A"/>
                </a:highlight>
                <a:latin typeface="Inter"/>
                <a:ea typeface="Inter"/>
                <a:cs typeface="Inter"/>
                <a:sym typeface="Inter"/>
              </a:rPr>
              <a:t>RAGService · </a:t>
            </a:r>
            <a:r>
              <a:rPr b="0" i="0" lang="pt-BR" sz="10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src/core — orquestrador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569619" y="2906465"/>
            <a:ext cx="4763" cy="190500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857250" y="3096965"/>
            <a:ext cx="2324100" cy="372889"/>
          </a:xfrm>
          <a:prstGeom prst="roundRect">
            <a:avLst>
              <a:gd fmla="val 10218" name="adj"/>
            </a:avLst>
          </a:prstGeom>
          <a:noFill/>
          <a:ln cap="flat" cmpd="sng" w="9525">
            <a:solidFill>
              <a:srgbClr val="E6E6EC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884301" y="3187452"/>
            <a:ext cx="2269998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EmbedderPort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016919" y="3565104"/>
            <a:ext cx="4763" cy="114300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857250" y="3774654"/>
            <a:ext cx="2324100" cy="329506"/>
          </a:xfrm>
          <a:prstGeom prst="roundRect">
            <a:avLst>
              <a:gd fmla="val 11563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898589" y="3850854"/>
            <a:ext cx="224142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OpenAI-compat · 768d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857250" y="4161309"/>
            <a:ext cx="2324100" cy="329506"/>
          </a:xfrm>
          <a:prstGeom prst="roundRect">
            <a:avLst>
              <a:gd fmla="val 11563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898589" y="4237509"/>
            <a:ext cx="224142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spaCy · 300d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409950" y="3096965"/>
            <a:ext cx="2324100" cy="372889"/>
          </a:xfrm>
          <a:prstGeom prst="roundRect">
            <a:avLst>
              <a:gd fmla="val 10218" name="adj"/>
            </a:avLst>
          </a:prstGeom>
          <a:noFill/>
          <a:ln cap="flat" cmpd="sng" w="9525">
            <a:solidFill>
              <a:srgbClr val="E6E6EC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437001" y="3187452"/>
            <a:ext cx="2269998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LLMPort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569619" y="3565104"/>
            <a:ext cx="4763" cy="114300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3409950" y="3774654"/>
            <a:ext cx="2324100" cy="329506"/>
          </a:xfrm>
          <a:prstGeom prst="roundRect">
            <a:avLst>
              <a:gd fmla="val 11563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3451288" y="3850854"/>
            <a:ext cx="224142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OpenAI SDK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409950" y="4161309"/>
            <a:ext cx="2324100" cy="329506"/>
          </a:xfrm>
          <a:prstGeom prst="roundRect">
            <a:avLst>
              <a:gd fmla="val 11563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451288" y="4237509"/>
            <a:ext cx="224142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Ollama / Gemini / Groq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5962650" y="3096965"/>
            <a:ext cx="2324100" cy="372889"/>
          </a:xfrm>
          <a:prstGeom prst="roundRect">
            <a:avLst>
              <a:gd fmla="val 10218" name="adj"/>
            </a:avLst>
          </a:prstGeom>
          <a:noFill/>
          <a:ln cap="flat" cmpd="sng" w="9525">
            <a:solidFill>
              <a:srgbClr val="E6E6EC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989701" y="3187452"/>
            <a:ext cx="2269998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RepositoryPort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122319" y="3565104"/>
            <a:ext cx="4763" cy="114300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5962650" y="3774654"/>
            <a:ext cx="2324100" cy="329506"/>
          </a:xfrm>
          <a:prstGeom prst="roundRect">
            <a:avLst>
              <a:gd fmla="val 11563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6003988" y="3850854"/>
            <a:ext cx="224142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PgVectorRepository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962650" y="4161309"/>
            <a:ext cx="2324100" cy="329506"/>
          </a:xfrm>
          <a:prstGeom prst="roundRect">
            <a:avLst>
              <a:gd fmla="val 11563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6003988" y="4237509"/>
            <a:ext cx="224142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PostgreSQL + pgvector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857250" y="495300"/>
            <a:ext cx="1274899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03 · ARQUITETURA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Endpoints da API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71500" y="1327696"/>
            <a:ext cx="880110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Quatro rotas HTTP cobrem todo o fluxo, do envio do documento ao status da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571500" y="2380208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571500" y="2002036"/>
            <a:ext cx="1781175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POST /api/ingest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381250" y="1987302"/>
            <a:ext cx="6320798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Recebe um PDF, extrai, segmenta em chunks, gera embeddings e grava no pgvector.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71500" y="3170783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571500" y="2681883"/>
            <a:ext cx="1781175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POST /api/extract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2381250" y="2556421"/>
            <a:ext cx="63769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Recebe PDF, texto bruto ou ambos e devolve os campos estruturados, validados e com fontes.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71500" y="3739902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71500" y="3361730"/>
            <a:ext cx="1781175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POST /api/query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2381250" y="3346996"/>
            <a:ext cx="6500061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Pergunta em linguagem natural sobre a base já ingerida, com resposta e páginas-fonte.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71500" y="3930849"/>
            <a:ext cx="1781175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GET /api/health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2381250" y="3916115"/>
            <a:ext cx="6205381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Status da base vetorial: quantidade de chunks armazenados e conexão com o LLM.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57250" y="495300"/>
            <a:ext cx="1274899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03 · ARQUITETURA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Modelos e Componentes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1327696"/>
            <a:ext cx="880110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Provider-agnostic: o mesmo SDK </a:t>
            </a: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openai </a:t>
            </a: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fala com qualquer endpoint compatível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71500" y="1777752"/>
            <a:ext cx="4232910" cy="189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LLM · 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571500" y="2404616"/>
            <a:ext cx="38481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571500" y="2148409"/>
            <a:ext cx="2390221" cy="213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Ollama (padrão)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2846278" y="2148409"/>
            <a:ext cx="1573322" cy="213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phi4-mini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71500" y="2734643"/>
            <a:ext cx="38481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571500" y="2476054"/>
            <a:ext cx="2390221" cy="215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OpenAI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846278" y="2476054"/>
            <a:ext cx="1573322" cy="215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gpt-4o-mini etc.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71500" y="3064669"/>
            <a:ext cx="38481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71500" y="2806080"/>
            <a:ext cx="2390221" cy="215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Gemini / Groq / Together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846278" y="2806080"/>
            <a:ext cx="1573322" cy="215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compatível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724400" y="1777752"/>
            <a:ext cx="4232910" cy="189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Embeddings · vetores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724400" y="2404616"/>
            <a:ext cx="38481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724400" y="2148409"/>
            <a:ext cx="1529557" cy="213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openai (padrão)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138514" y="2148409"/>
            <a:ext cx="2433986" cy="213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768d · nomic-embed-text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724400" y="2734643"/>
            <a:ext cx="38481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724400" y="2476054"/>
            <a:ext cx="1529557" cy="215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spacy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138514" y="2476054"/>
            <a:ext cx="2433986" cy="215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300d · pt_core_news_lg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724400" y="2875136"/>
            <a:ext cx="396354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Cada embedder grava em sua própria tabela (</a:t>
            </a:r>
            <a:r>
              <a:rPr b="0" i="0" lang="pt-BR" sz="9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chunk </a:t>
            </a: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/ </a:t>
            </a:r>
            <a:r>
              <a:rPr b="0" i="0" lang="pt-BR" sz="9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chunk_spacy </a:t>
            </a: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) — comparação justa, sem misturar dimensões.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857250" y="495300"/>
            <a:ext cx="910724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04 ·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Pipeline de Ingestão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71500" y="1327696"/>
            <a:ext cx="880110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Rota </a:t>
            </a: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POST /api/ingest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71500" y="1892052"/>
            <a:ext cx="266700" cy="266700"/>
          </a:xfrm>
          <a:prstGeom prst="ellipse">
            <a:avLst/>
          </a:prstGeom>
          <a:solidFill>
            <a:srgbClr val="423A6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52450" y="1892052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5F4FF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F5F4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71500" y="2254002"/>
            <a:ext cx="1944886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PyMuPDF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71500" y="2509242"/>
            <a:ext cx="182112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Extrai texto página por página do PDF enviado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2491978" y="2025402"/>
            <a:ext cx="4763" cy="202272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2649141" y="1892052"/>
            <a:ext cx="266700" cy="266700"/>
          </a:xfrm>
          <a:prstGeom prst="ellipse">
            <a:avLst/>
          </a:prstGeom>
          <a:solidFill>
            <a:srgbClr val="423A6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2630091" y="1892052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5F4FF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F5F4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2649141" y="2254002"/>
            <a:ext cx="1944886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Chunking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649141" y="2509242"/>
            <a:ext cx="182112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RecursiveCharacterTextSplitter · 2000 caracteres, overlap 200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569619" y="2025402"/>
            <a:ext cx="4763" cy="202272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4726782" y="1892052"/>
            <a:ext cx="266700" cy="266700"/>
          </a:xfrm>
          <a:prstGeom prst="ellipse">
            <a:avLst/>
          </a:prstGeom>
          <a:solidFill>
            <a:srgbClr val="423A6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4707732" y="1892052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5F4FF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F5F4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726782" y="2254002"/>
            <a:ext cx="1944886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Embeddings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726782" y="2509242"/>
            <a:ext cx="182112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Um vetor por chunk, gerado pelo embedder escolhido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647260" y="2025402"/>
            <a:ext cx="4763" cy="202272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6804422" y="1892052"/>
            <a:ext cx="266700" cy="266700"/>
          </a:xfrm>
          <a:prstGeom prst="ellipse">
            <a:avLst/>
          </a:prstGeom>
          <a:solidFill>
            <a:srgbClr val="423A6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6785372" y="1892052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5F4FF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F5F4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804422" y="2254002"/>
            <a:ext cx="1944886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pgvector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804422" y="2509242"/>
            <a:ext cx="182112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Armazenamento vetorial persistente no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4314825"/>
            <a:ext cx="68675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Chunks curtos separavam atores, fatos e justificativas do mesmo contexto discursivo — o overlap mantém a continuidade entre fronteiras.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57250" y="495300"/>
            <a:ext cx="910724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04 ·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Recuperação Vetorial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1327696"/>
            <a:ext cx="880110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Rotas </a:t>
            </a: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POST /api/query </a:t>
            </a: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POST /api/extract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247002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838200" y="2412876"/>
            <a:ext cx="3859381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A pergunta vira vetor e o pgvector busca os trechos mais próximos por distância de cosseno.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311772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838200" y="3060576"/>
            <a:ext cx="3795687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Os trechos recuperados entram no prompt; o LLM responde e informa as páginas usadas como fonte.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71500" y="376542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838200" y="3708276"/>
            <a:ext cx="263202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106165" y="3708276"/>
            <a:ext cx="909660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/api/extract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838200" y="3708276"/>
            <a:ext cx="3377657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, o mesmo mecanismo apoia a normalização quando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2436986" y="3936876"/>
            <a:ext cx="737190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top_k &gt;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107159" y="3936876"/>
            <a:ext cx="82004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143500" y="2440558"/>
            <a:ext cx="3429000" cy="1659136"/>
          </a:xfrm>
          <a:prstGeom prst="roundRect">
            <a:avLst>
              <a:gd fmla="val 4019" name="adj"/>
            </a:avLst>
          </a:prstGeom>
          <a:solidFill>
            <a:srgbClr val="232532"/>
          </a:solidFill>
          <a:ln>
            <a:noFill/>
          </a:ln>
          <a:effectLst>
            <a:outerShdw blurRad="101600" rotWithShape="0" algn="bl" dir="16200000" dist="50800">
              <a:srgbClr val="595D6C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372100" y="2669158"/>
            <a:ext cx="3268980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PERGUNTA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372100" y="2960564"/>
            <a:ext cx="32689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O relatório menciona Jair Bolsonaro?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372100" y="3274888"/>
            <a:ext cx="2971800" cy="4762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372100" y="3393951"/>
            <a:ext cx="3268980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FONTES CITADAS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372100" y="3685357"/>
            <a:ext cx="3268980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Página 486 · Página 1281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857250" y="495300"/>
            <a:ext cx="1073125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05 · VALIDAÇÃO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Extração Estruturada e Validação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1327696"/>
            <a:ext cx="880110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Rota </a:t>
            </a: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POST /api/extract </a:t>
            </a: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— validação em camadas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1815852"/>
            <a:ext cx="1730127" cy="473348"/>
          </a:xfrm>
          <a:prstGeom prst="roundRect">
            <a:avLst>
              <a:gd fmla="val 8049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621748" y="1949202"/>
            <a:ext cx="1629631" cy="2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json.loads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2415927" y="1934394"/>
            <a:ext cx="16959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661717" y="1815852"/>
            <a:ext cx="1730202" cy="473348"/>
          </a:xfrm>
          <a:prstGeom prst="roundRect">
            <a:avLst>
              <a:gd fmla="val 8049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2711964" y="1949202"/>
            <a:ext cx="1629708" cy="2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reparo via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4506218" y="1934394"/>
            <a:ext cx="169589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752008" y="1815852"/>
            <a:ext cx="1730202" cy="473348"/>
          </a:xfrm>
          <a:prstGeom prst="roundRect">
            <a:avLst>
              <a:gd fmla="val 8049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4802255" y="1949202"/>
            <a:ext cx="1629707" cy="2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fallbacks determinísticos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596509" y="1934394"/>
            <a:ext cx="16959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842298" y="1815852"/>
            <a:ext cx="1730202" cy="473348"/>
          </a:xfrm>
          <a:prstGeom prst="roundRect">
            <a:avLst>
              <a:gd fmla="val 8049" name="adj"/>
            </a:avLst>
          </a:prstGeom>
          <a:solidFill>
            <a:srgbClr val="423A6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6892546" y="1949202"/>
            <a:ext cx="1629707" cy="22569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5F4FF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F5F4FF"/>
                </a:solidFill>
                <a:latin typeface="Inter"/>
                <a:ea typeface="Inter"/>
                <a:cs typeface="Inter"/>
                <a:sym typeface="Inter"/>
              </a:rPr>
              <a:t>validação Pydantic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3269382"/>
            <a:ext cx="3597957" cy="16839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235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Campos obrigatórios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3494931"/>
            <a:ext cx="3597957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4194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document_type · title · main_event · facts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3902571"/>
            <a:ext cx="3597957" cy="16839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235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Status de saída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71500" y="4128120"/>
            <a:ext cx="443731" cy="281881"/>
          </a:xfrm>
          <a:prstGeom prst="roundRect">
            <a:avLst>
              <a:gd fmla="val 50000" name="adj"/>
            </a:avLst>
          </a:prstGeom>
          <a:solidFill>
            <a:srgbClr val="423A6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66750" y="4175745"/>
            <a:ext cx="291331" cy="205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5F4FF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F5F4FF"/>
                </a:solidFill>
                <a:latin typeface="Inter"/>
                <a:ea typeface="Inter"/>
                <a:cs typeface="Inter"/>
                <a:sym typeface="Inter"/>
              </a:rPr>
              <a:t>valid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1081906" y="4128120"/>
            <a:ext cx="537121" cy="281881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6E6EC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1181918" y="4180508"/>
            <a:ext cx="375196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partial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1685702" y="4128120"/>
            <a:ext cx="546795" cy="281881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6E6EC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1785715" y="4180508"/>
            <a:ext cx="384869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invalid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147170" y="2555900"/>
            <a:ext cx="4425330" cy="2567583"/>
          </a:xfrm>
          <a:prstGeom prst="roundRect">
            <a:avLst>
              <a:gd fmla="val 1484" name="adj"/>
            </a:avLst>
          </a:prstGeom>
          <a:solidFill>
            <a:srgbClr val="232532"/>
          </a:solidFill>
          <a:ln>
            <a:noFill/>
          </a:ln>
          <a:effectLst>
            <a:outerShdw blurRad="101600" rotWithShape="0" algn="bl" dir="16200000" dist="50800">
              <a:srgbClr val="595D6C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7170" y="2555900"/>
            <a:ext cx="4425330" cy="2567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/>
          <p:nvPr/>
        </p:nvSpPr>
        <p:spPr>
          <a:xfrm>
            <a:off x="0" y="0"/>
            <a:ext cx="4954637" cy="51435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266700" y="922734"/>
            <a:ext cx="4421237" cy="3297957"/>
          </a:xfrm>
          <a:prstGeom prst="roundRect">
            <a:avLst>
              <a:gd fmla="val 1155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10151F">
                <a:alpha val="1215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922734"/>
            <a:ext cx="4421237" cy="329795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/>
          <p:nvPr/>
        </p:nvSpPr>
        <p:spPr>
          <a:xfrm>
            <a:off x="5411837" y="915814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697587" y="829642"/>
            <a:ext cx="1455800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06 · DEMONSTRAÇÃO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5411837" y="1197248"/>
            <a:ext cx="3602459" cy="32571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4706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100"/>
              <a:buFont typeface="Inter"/>
              <a:buNone/>
            </a:pPr>
            <a:r>
              <a:rPr b="0" i="0" lang="pt-BR" sz="2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Interface Web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5411837" y="1761083"/>
            <a:ext cx="10477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640437" y="1713458"/>
            <a:ext cx="268553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Uma ação principal — Ingerir e extrair PDF — que chama ingest e extract com o mesmo arquivo.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5411837" y="2513558"/>
            <a:ext cx="10477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5640437" y="2465933"/>
            <a:ext cx="29869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Resultado mostra status de validação, confiança, campos extraídos, fontes e chunks usados como contexto.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5411837" y="3266033"/>
            <a:ext cx="10477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640437" y="3218408"/>
            <a:ext cx="27069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Área secundária permite consultar a base vetorial já ingerida.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411837" y="3818483"/>
            <a:ext cx="10477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640437" y="3770858"/>
            <a:ext cx="273505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Exemplo ao lado: extração rodada sobre o próprio relatório da equipe — o extrator funciona sobre qualquer PDF ou texto.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857250" y="495300"/>
            <a:ext cx="1353235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07 · EXPERIMENTOS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Protocolo Experimental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1327696"/>
            <a:ext cx="8801100" cy="2405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30 casos de teste · comparação entre </a:t>
            </a: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top_k = 5 </a:t>
            </a:r>
            <a:r>
              <a:rPr b="0" i="0" lang="pt-BR" sz="11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top_k =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1853952"/>
            <a:ext cx="1478236" cy="2379911"/>
          </a:xfrm>
          <a:prstGeom prst="roundRect">
            <a:avLst>
              <a:gd fmla="val 2577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685800" y="2006352"/>
            <a:ext cx="1374599" cy="4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100"/>
              <a:buFont typeface="Inter"/>
              <a:buNone/>
            </a:pPr>
            <a:r>
              <a:rPr b="0" i="0" lang="pt-BR" sz="2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685800" y="2514972"/>
            <a:ext cx="1374599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casos fáceis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2202135" y="1853952"/>
            <a:ext cx="1478310" cy="2379911"/>
          </a:xfrm>
          <a:prstGeom prst="roundRect">
            <a:avLst>
              <a:gd fmla="val 2577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2316435" y="2006352"/>
            <a:ext cx="1374681" cy="4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100"/>
              <a:buFont typeface="Inter"/>
              <a:buNone/>
            </a:pPr>
            <a:r>
              <a:rPr b="0" i="0" lang="pt-BR" sz="2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2316435" y="2514972"/>
            <a:ext cx="1374681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casos médios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3832845" y="1853952"/>
            <a:ext cx="1478235" cy="2379911"/>
          </a:xfrm>
          <a:prstGeom prst="roundRect">
            <a:avLst>
              <a:gd fmla="val 2577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3947145" y="2006352"/>
            <a:ext cx="1374599" cy="4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100"/>
              <a:buFont typeface="Inter"/>
              <a:buNone/>
            </a:pPr>
            <a:r>
              <a:rPr b="0" i="0" lang="pt-BR" sz="2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3947145" y="2514972"/>
            <a:ext cx="1374599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casos ambíguos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5463481" y="1853952"/>
            <a:ext cx="1478310" cy="2379911"/>
          </a:xfrm>
          <a:prstGeom prst="roundRect">
            <a:avLst>
              <a:gd fmla="val 2577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5577781" y="2006352"/>
            <a:ext cx="1374681" cy="4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100"/>
              <a:buFont typeface="Inter"/>
              <a:buNone/>
            </a:pPr>
            <a:r>
              <a:rPr b="0" i="0" lang="pt-BR" sz="2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577781" y="2514972"/>
            <a:ext cx="1374681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base insuficiente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7094190" y="1853952"/>
            <a:ext cx="1478235" cy="2379911"/>
          </a:xfrm>
          <a:prstGeom prst="roundRect">
            <a:avLst>
              <a:gd fmla="val 2577" name="adj"/>
            </a:avLst>
          </a:prstGeom>
          <a:solidFill>
            <a:srgbClr val="2325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7208490" y="2006352"/>
            <a:ext cx="1374599" cy="4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100"/>
              <a:buFont typeface="Inter"/>
              <a:buNone/>
            </a:pPr>
            <a:r>
              <a:rPr b="0" i="0" lang="pt-BR" sz="2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7208490" y="2514972"/>
            <a:ext cx="1374599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limites da aplicação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71500" y="4500563"/>
            <a:ext cx="7334250" cy="2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Pontuação binária: 1 para resposta correta, 0 para incorreta ou insuficiente.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857250" y="495300"/>
            <a:ext cx="1353235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07 · EXPERIMENTOS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Resultados Experimentais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571500" y="1807220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628650" y="1537246"/>
            <a:ext cx="3928342" cy="19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CATEGORIA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4524030" y="1537246"/>
            <a:ext cx="1912463" cy="19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TOP_K =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6489651" y="1537246"/>
            <a:ext cx="2057325" cy="198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TOP_K =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571500" y="2185839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628650" y="1888183"/>
            <a:ext cx="3928342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Casos fáceis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4524030" y="1888183"/>
            <a:ext cx="1912463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3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6489651" y="1888183"/>
            <a:ext cx="2057325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3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2564458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628650" y="2266801"/>
            <a:ext cx="3928342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Casos médios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4524030" y="2266801"/>
            <a:ext cx="1912463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4 /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6489651" y="2266801"/>
            <a:ext cx="2057325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6 /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571500" y="2943076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628650" y="2645420"/>
            <a:ext cx="3928342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Casos ambíguos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4524030" y="2645420"/>
            <a:ext cx="1912463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3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6489651" y="2645420"/>
            <a:ext cx="2057325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0A790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0A790"/>
                </a:solidFill>
                <a:latin typeface="Inter"/>
                <a:ea typeface="Inter"/>
                <a:cs typeface="Inter"/>
                <a:sym typeface="Inter"/>
              </a:rPr>
              <a:t>2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571500" y="3321695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628650" y="3024039"/>
            <a:ext cx="3928342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Base insuficiente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4524030" y="3024039"/>
            <a:ext cx="1912463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5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6489651" y="3024039"/>
            <a:ext cx="2057325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6 /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571500" y="3700314"/>
            <a:ext cx="8001000" cy="4763"/>
          </a:xfrm>
          <a:prstGeom prst="rect">
            <a:avLst/>
          </a:prstGeom>
          <a:solidFill>
            <a:srgbClr val="E6E6EC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628650" y="3402657"/>
            <a:ext cx="3928342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Limites da aplicação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4524030" y="3402657"/>
            <a:ext cx="1912463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5 /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6489651" y="3402657"/>
            <a:ext cx="2057325" cy="24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5 /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628650" y="3800326"/>
            <a:ext cx="3928342" cy="27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4524030" y="3800326"/>
            <a:ext cx="1912463" cy="27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1300"/>
              <a:buFont typeface="Inter"/>
              <a:buNone/>
            </a:pPr>
            <a:r>
              <a:rPr b="0" i="0" lang="pt-BR" sz="13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6489651" y="3800326"/>
            <a:ext cx="2057325" cy="27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300"/>
              <a:buFont typeface="Inter"/>
              <a:buNone/>
            </a:pPr>
            <a:r>
              <a:rPr b="0" i="0" lang="pt-BR" sz="13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571500" y="4301282"/>
            <a:ext cx="7358063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1000"/>
              <a:buFont typeface="Inter"/>
              <a:buNone/>
            </a:pPr>
            <a:r>
              <a:rPr b="0" i="0" lang="pt-BR" sz="10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Mais contexto ajudou nos casos médios e na base insuficiente, mas piorou os ambíguos — trechos concorrentes dificultam a resposta.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857250" y="495300"/>
            <a:ext cx="85219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08 · CRÍTICA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571500" y="9010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Análise Crítica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571500" y="1594395"/>
            <a:ext cx="4149090" cy="18968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Clr>
                <a:srgbClr val="D2CEFD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D2CEFD"/>
                </a:solidFill>
                <a:latin typeface="Inter"/>
                <a:ea typeface="Inter"/>
                <a:cs typeface="Inter"/>
                <a:sym typeface="Inter"/>
              </a:rPr>
              <a:t>O que funcionou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71500" y="1984102"/>
            <a:ext cx="10477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800100" y="1936477"/>
            <a:ext cx="297917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Testes cobrem chunking, extração, validação, repositório e rotas HTTP.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571500" y="2536552"/>
            <a:ext cx="10477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800100" y="2488927"/>
            <a:ext cx="345683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Validação em camadas + reparo automático reduzem falhas de JSON malformado.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571500" y="3089002"/>
            <a:ext cx="10477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800100" y="3041377"/>
            <a:ext cx="3575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Recuperação ajuda quando a informação está dispersa no documento.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4800600" y="1594395"/>
            <a:ext cx="4149090" cy="18968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Clr>
                <a:srgbClr val="E0A790"/>
              </a:buClr>
              <a:buSzPts val="1200"/>
              <a:buFont typeface="Inter"/>
              <a:buNone/>
            </a:pPr>
            <a:r>
              <a:rPr b="0" i="0" lang="pt-BR" sz="1200" u="none" cap="none" strike="noStrike">
                <a:solidFill>
                  <a:srgbClr val="E0A790"/>
                </a:solidFill>
                <a:latin typeface="Inter"/>
                <a:ea typeface="Inter"/>
                <a:cs typeface="Inter"/>
                <a:sym typeface="Inter"/>
              </a:rPr>
              <a:t>Limitações e falhas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4800600" y="1984102"/>
            <a:ext cx="104775" cy="4763"/>
          </a:xfrm>
          <a:prstGeom prst="rect">
            <a:avLst/>
          </a:prstGeom>
          <a:solidFill>
            <a:srgbClr val="E0A79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5029200" y="1936477"/>
            <a:ext cx="34296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spaCy usa vetores estáticos e capta menos contexto semântico que modelos Transformer.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4800600" y="2536552"/>
            <a:ext cx="104775" cy="4763"/>
          </a:xfrm>
          <a:prstGeom prst="rect">
            <a:avLst/>
          </a:prstGeom>
          <a:solidFill>
            <a:srgbClr val="E0A79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7"/>
          <p:cNvSpPr/>
          <p:nvPr/>
        </p:nvSpPr>
        <p:spPr>
          <a:xfrm>
            <a:off x="5029200" y="2488927"/>
            <a:ext cx="34706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Mais top_k ajuda casos médios, mas introduz trechos concorrentes nos ambíguos.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4800600" y="3089002"/>
            <a:ext cx="104775" cy="4763"/>
          </a:xfrm>
          <a:prstGeom prst="rect">
            <a:avLst/>
          </a:prstGeom>
          <a:solidFill>
            <a:srgbClr val="E0A79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5029200" y="3041377"/>
            <a:ext cx="3454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100"/>
              <a:buFont typeface="Inter"/>
              <a:buNone/>
            </a:pPr>
            <a:r>
              <a:rPr b="0" i="0" lang="pt-BR" sz="11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Campos como facts e evidence ainda exigem revisão manual em documentos longos.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6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571500" y="581472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8"/>
          <p:cNvSpPr/>
          <p:nvPr/>
        </p:nvSpPr>
        <p:spPr>
          <a:xfrm>
            <a:off x="857250" y="495300"/>
            <a:ext cx="1256645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09 · FECHAMENTO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571500" y="977206"/>
            <a:ext cx="880110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2400"/>
              <a:buFont typeface="Inter"/>
              <a:buNone/>
            </a:pPr>
            <a:r>
              <a:rPr b="0" i="0" lang="pt-BR" sz="24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Conclusão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571500" y="1756321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8"/>
          <p:cNvSpPr/>
          <p:nvPr/>
        </p:nvSpPr>
        <p:spPr>
          <a:xfrm>
            <a:off x="838200" y="1694408"/>
            <a:ext cx="58018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300"/>
              <a:buFont typeface="Inter"/>
              <a:buNone/>
            </a:pPr>
            <a:r>
              <a:rPr b="0" i="0" lang="pt-BR" sz="13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Entrega completa: LLM, base documental externa, ingestão, embeddings, armazenamento vetorial, extração estruturada e validação.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571500" y="2451646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8"/>
          <p:cNvSpPr/>
          <p:nvPr/>
        </p:nvSpPr>
        <p:spPr>
          <a:xfrm>
            <a:off x="838200" y="2389733"/>
            <a:ext cx="6390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300"/>
              <a:buFont typeface="Inter"/>
              <a:buNone/>
            </a:pPr>
            <a:r>
              <a:rPr b="0" i="0" lang="pt-BR" sz="13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A arquitetura em portas e adaptadores facilita trocar embedders e provedores de LLM sem reescrever o domínio.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571500" y="3146971"/>
            <a:ext cx="123825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8"/>
          <p:cNvSpPr/>
          <p:nvPr/>
        </p:nvSpPr>
        <p:spPr>
          <a:xfrm>
            <a:off x="838200" y="3085058"/>
            <a:ext cx="64950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4E7F5"/>
              </a:buClr>
              <a:buSzPts val="1300"/>
              <a:buFont typeface="Inter"/>
              <a:buNone/>
            </a:pPr>
            <a:r>
              <a:rPr b="0" i="0" lang="pt-BR" sz="1300" u="none" cap="none" strike="noStrike">
                <a:solidFill>
                  <a:srgbClr val="E4E7F5"/>
                </a:solidFill>
                <a:latin typeface="Inter"/>
                <a:ea typeface="Inter"/>
                <a:cs typeface="Inter"/>
                <a:sym typeface="Inter"/>
              </a:rPr>
              <a:t>Próximo passo: avaliar a extração campo a campo, com métricas de completude e comparação entre embedders.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A60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/>
          <p:nvPr/>
        </p:nvSpPr>
        <p:spPr>
          <a:xfrm>
            <a:off x="571500" y="1876500"/>
            <a:ext cx="209550" cy="4763"/>
          </a:xfrm>
          <a:prstGeom prst="rect">
            <a:avLst/>
          </a:prstGeom>
          <a:solidFill>
            <a:srgbClr val="9184D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857250" y="1790328"/>
            <a:ext cx="1519647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184D9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9184D9"/>
                </a:solidFill>
                <a:latin typeface="Inter"/>
                <a:ea typeface="Inter"/>
                <a:cs typeface="Inter"/>
                <a:sym typeface="Inter"/>
              </a:rPr>
              <a:t>EQUIPE 4 · PROJETO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571500" y="2196034"/>
            <a:ext cx="88011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1034"/>
              </a:lnSpc>
              <a:spcBef>
                <a:spcPts val="0"/>
              </a:spcBef>
              <a:spcAft>
                <a:spcPts val="0"/>
              </a:spcAft>
              <a:buClr>
                <a:srgbClr val="E9E9ED"/>
              </a:buClr>
              <a:buSzPts val="3600"/>
              <a:buFont typeface="Inter"/>
              <a:buNone/>
            </a:pPr>
            <a:r>
              <a:rPr b="0" i="0" lang="pt-BR" sz="3600" u="none" cap="none" strike="noStrike">
                <a:solidFill>
                  <a:srgbClr val="E9E9ED"/>
                </a:solidFill>
                <a:latin typeface="Inter"/>
                <a:ea typeface="Inter"/>
                <a:cs typeface="Inter"/>
                <a:sym typeface="Inter"/>
              </a:rPr>
              <a:t>Perguntas?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571500" y="2889424"/>
            <a:ext cx="6376988" cy="52089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Clr>
                <a:srgbClr val="CFD3E5"/>
              </a:buClr>
              <a:buSzPts val="1300"/>
              <a:buFont typeface="Inter"/>
              <a:buNone/>
            </a:pPr>
            <a:r>
              <a:rPr b="0" i="0" lang="pt-BR" sz="1300" u="none" cap="none" strike="noStrike">
                <a:solidFill>
                  <a:srgbClr val="CFD3E5"/>
                </a:solidFill>
                <a:latin typeface="Inter"/>
                <a:ea typeface="Inter"/>
                <a:cs typeface="Inter"/>
                <a:sym typeface="Inter"/>
              </a:rPr>
              <a:t>Extrator Estruturado com LLM, RAG e Validação — relatório, código e slides disponíveis para consulta.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571500" y="4509195"/>
            <a:ext cx="3729663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Brunna Moura · Carlos Cruz · Rafael Queiroz · Victor Bitencourt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7549381" y="4509195"/>
            <a:ext cx="1125431" cy="1961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B2B6CA"/>
              </a:buClr>
              <a:buSzPts val="900"/>
              <a:buFont typeface="Inter"/>
              <a:buNone/>
            </a:pPr>
            <a:r>
              <a:rPr b="0" i="0" lang="pt-BR" sz="900" u="none" cap="none" strike="noStrike">
                <a:solidFill>
                  <a:srgbClr val="B2B6CA"/>
                </a:solidFill>
                <a:latin typeface="Inter"/>
                <a:ea typeface="Inter"/>
                <a:cs typeface="Inter"/>
                <a:sym typeface="Inter"/>
              </a:rPr>
              <a:t>UNEB · Julho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